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Poppins" pitchFamily="2" charset="77"/>
      <p:regular r:id="rId12"/>
      <p:bold r:id="rId13"/>
      <p:italic r:id="rId14"/>
      <p:boldItalic r:id="rId15"/>
    </p:embeddedFont>
    <p:embeddedFont>
      <p:font typeface="Poppins SemiBold" panose="0000070000000000000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50496"/>
  </p:normalViewPr>
  <p:slideViewPr>
    <p:cSldViewPr snapToGrid="0">
      <p:cViewPr varScale="1">
        <p:scale>
          <a:sx n="58" d="100"/>
          <a:sy n="58" d="100"/>
        </p:scale>
        <p:origin x="256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I’m going to talk about a time where I translated a complex, multi-source analytical problem into a clear, decision-ready insight for stakeholders, through the development of a Port Stress Index.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 part of our weekly publication, we monitor shipping activity across UK ports to understand economic activity and potential disruption.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However, the data was fragmented across multiple metrics — including ship counts, gross tonnage, tanker units, and average time spent in port.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These metrics could be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analysed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individually, but they often gave conflicting signals.</a:t>
            </a: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 example, a port might show high ship counts but relatively low cargo volume.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made it difficult to answer a simple but important question:</a:t>
            </a: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“Are ports currently under unusual pressure?”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became particularly important during periods of global disruption, where stakeholders needed a clear and timely view.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complexity came from three areas: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First, the metrics were in different units and scales — making direct comparison difficult.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Second, each metric only provided a partial view of activity.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And third, the data was highly volatile, meaning short-term changes could be misinterpreted.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 the challenge was not just analytical — it was about simplifying multiple signals into a clear, consistent insight for decision-making.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address this, I led the development of a composite Port Stress Index.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standardised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the different inputs so they could be compared on a common scale and combined them into a single measure of overall pressure.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key step was defining what “normal” looks like using historical patterns, so deviations could be clearly interpreted.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allowed us to move from multiple disconnected metrics to a single, coherent signal.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Importantly, the focus was not just on building the index, but on ensuring it was usable and easily understood by stakeholders.</a:t>
            </a:r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Rather than presenting multiple datasets or focusing on the technical detail, I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prioritised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usability.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 presented the output as a simple time series, allowing stakeholders to track changes in port pressure over time.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 also enabled direct comparison across ports by placing them on a common scale.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make interpretation easier, I introduced simple categories such as “within expected range” and “above normal pressure.”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 was also clear about limitations — explaining what the index captures, and where additional context is needed.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shifted the conversation from</a:t>
            </a: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“What does this data mean?”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</a:t>
            </a:r>
          </a:p>
          <a:p>
            <a:pPr marL="158750" indent="0">
              <a:buNone/>
            </a:pP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“What action should we take?”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approach allowed us to assess port conditions quickly without needing to interpret multiple datasets.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 reduced the risk of misinterpreting short-term volatility and provided a consistent view across ports.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 example, we could identify sustained pressure, rather than reacting to isolated spikes in individual metrics.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 a real-time perspective, it acted as an early signal of potential disruption or increased activity.</a:t>
            </a: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Its real value was when used alongside other indicators — such as transaction data or footfall — where it helped build a more complete picture of economic conditions.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(pause)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Overall, it improved the clarity, consistency and timeliness of our analysis, supporting better decision-making.</a:t>
            </a:r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10350" y="1729954"/>
            <a:ext cx="10801500" cy="3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Port Stress Index – Simplifying multi-source data for decision-making</a:t>
            </a:r>
            <a:endParaRPr sz="4800" b="1" i="0" u="none" strike="noStrike" cap="none" dirty="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dirty="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920478"/>
            <a:ext cx="4857750" cy="431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20478"/>
            <a:ext cx="4857750" cy="431244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52500" y="571500"/>
            <a:ext cx="6400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 &amp; Complexity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952500" y="1352550"/>
            <a:ext cx="609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333500" y="2472928"/>
            <a:ext cx="43005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62750" y="2472928"/>
            <a:ext cx="43005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It Was Complex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666875" y="3234928"/>
            <a:ext cx="3762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Multiple port metrics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666875" y="3912989"/>
            <a:ext cx="3762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single view of pressure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666875" y="4591050"/>
            <a:ext cx="3762375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Risk of inconsistent interpretation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096125" y="3234928"/>
            <a:ext cx="3762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Different units and scales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96125" y="3912989"/>
            <a:ext cx="3762375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Partial signals from each metric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096125" y="5078610"/>
            <a:ext cx="3762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volatility in data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333500" y="3092053"/>
            <a:ext cx="2762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33500" y="3770114"/>
            <a:ext cx="2762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333500" y="4448175"/>
            <a:ext cx="2762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2750" y="3092053"/>
            <a:ext cx="2762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62750" y="3770114"/>
            <a:ext cx="2762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62750" y="4935735"/>
            <a:ext cx="2762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" y="580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47750" y="571500"/>
            <a:ext cx="324040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My Approach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047750" y="1352550"/>
            <a:ext cx="30861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714500" y="1750767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Standardised</a:t>
            </a:r>
            <a:r>
              <a:rPr lang="en-US" sz="27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inputs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1619250" y="2364135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Combined into single index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619250" y="4655790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Defined ‘normal’ vs ‘high pressure’</a:t>
            </a:r>
            <a:endParaRPr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707" y="2025057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2618407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488052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AB96BE-A8BA-4114-1180-868E919AD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3148102"/>
            <a:ext cx="7772400" cy="738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C046E8-3919-4C11-A61D-BAFF8A87D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250" y="3817590"/>
            <a:ext cx="34163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52500" y="571500"/>
            <a:ext cx="569071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I Communicated It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952500" y="1352550"/>
            <a:ext cx="541972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524000" y="2408039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Single time series per port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524000" y="3242369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Clear comparison across ports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524000" y="4076700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 interpretation (normal / high)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524000" y="4911030"/>
            <a:ext cx="895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Focus on decisions, not methods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474714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309044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143375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977705"/>
            <a:ext cx="2667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52500" y="571500"/>
            <a:ext cx="1750218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952500" y="1352550"/>
            <a:ext cx="166687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41828" y="2298427"/>
            <a:ext cx="8953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Faster understanding</a:t>
            </a:r>
            <a:endParaRPr sz="200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841828" y="3301454"/>
            <a:ext cx="8953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Reduced misinterpretation</a:t>
            </a:r>
            <a:endParaRPr sz="20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841828" y="4248799"/>
            <a:ext cx="8953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Consistent narrative</a:t>
            </a:r>
            <a:endParaRPr sz="2000" dirty="0"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929" y="250135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929" y="349760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929" y="450768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0A7726-B7A9-E21D-2C30-B9B0F01EE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861348"/>
            <a:ext cx="7772400" cy="4674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723</Words>
  <Application>Microsoft Macintosh PowerPoint</Application>
  <PresentationFormat>Widescreen</PresentationFormat>
  <Paragraphs>85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Poppins</vt:lpstr>
      <vt:lpstr>Poppins SemiBold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Saurabh Kumar</cp:lastModifiedBy>
  <cp:revision>10</cp:revision>
  <dcterms:modified xsi:type="dcterms:W3CDTF">2026-03-29T16:06:03Z</dcterms:modified>
</cp:coreProperties>
</file>