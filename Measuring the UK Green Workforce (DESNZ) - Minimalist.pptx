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 panose="02000503000000020004" pitchFamily="2" charset="0"/>
      <p:regular r:id="rId12"/>
      <p:bold r:id="rId13"/>
      <p:italic r:id="rId14"/>
      <p:boldItalic r:id="rId15"/>
    </p:embeddedFont>
    <p:embeddedFont>
      <p:font typeface="Inter Black" panose="02000503000000020004" pitchFamily="2" charset="0"/>
      <p:bold r:id="rId16"/>
      <p:italic r:id="rId17"/>
      <p:boldItalic r:id="rId18"/>
    </p:embeddedFont>
    <p:embeddedFont>
      <p:font typeface="Inter SemiBold" panose="02000503000000020004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7475" y="4262437"/>
            <a:ext cx="6877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1814512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Tracking the Green Transition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2738437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Data Science Methodology to Identify the UK Green Workforce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67050" y="4481512"/>
            <a:ext cx="6057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Department for Energy Security and Net Zero (DESNZ)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5048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The Raw Material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843212"/>
            <a:ext cx="48291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62.3M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4081462"/>
            <a:ext cx="48291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UK Job Advertisements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643437"/>
            <a:ext cx="4829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(Spanning a 6-year period)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1704975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Cleaning Pipeline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381750" y="2381250"/>
            <a:ext cx="5229225" cy="9620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0" y="2667000"/>
            <a:ext cx="41814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Lowercase Conversion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381750" y="333375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381750" y="238125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381750" y="2381250"/>
            <a:ext cx="57150" cy="9620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1601450" y="2381250"/>
            <a:ext cx="9525" cy="962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381750" y="3581400"/>
            <a:ext cx="5229225" cy="9620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143750" y="3867150"/>
            <a:ext cx="41814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Stop-Word Removal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6381750" y="453390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381750" y="358140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381750" y="3581400"/>
            <a:ext cx="57150" cy="9620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1601450" y="3581400"/>
            <a:ext cx="9525" cy="962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381750" y="4781550"/>
            <a:ext cx="5229225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143750" y="5067300"/>
            <a:ext cx="418147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Black"/>
                <a:ea typeface="Inter Black"/>
                <a:cs typeface="Inter Black"/>
                <a:sym typeface="Inter Black"/>
              </a:rPr>
              <a:t>Noun Chunk Extraction</a:t>
            </a:r>
            <a:r>
              <a:rPr lang="en-US" sz="19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(e.g., "offshore wind turbine")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381750" y="6105525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381750" y="478155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381750" y="4781550"/>
            <a:ext cx="57150" cy="133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1601450" y="4781550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381750" y="333375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381750" y="453390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6381750" y="6105525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025" y="268605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388620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5086350"/>
            <a:ext cx="3429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12" y="-2846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04925"/>
            <a:ext cx="110299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14725"/>
            <a:ext cx="532447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514725"/>
            <a:ext cx="532447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581025" y="249544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Phase 1: Semantic Filtering</a:t>
            </a:r>
            <a:endParaRPr dirty="0"/>
          </a:p>
        </p:txBody>
      </p:sp>
      <p:sp>
        <p:nvSpPr>
          <p:cNvPr id="133" name="Google Shape;133;p15"/>
          <p:cNvSpPr/>
          <p:nvPr/>
        </p:nvSpPr>
        <p:spPr>
          <a:xfrm>
            <a:off x="581025" y="84772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967978" y="4433887"/>
            <a:ext cx="455056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0.35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76325" y="5091112"/>
            <a:ext cx="43338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Similarity Threshold to "Environment"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81800" y="4067175"/>
            <a:ext cx="4333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6781800" y="5162550"/>
            <a:ext cx="43338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Captures Functional Tech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781800" y="5972175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Eliminates unrelated office jargon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The Context Problem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983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81025" y="3748087"/>
            <a:ext cx="549068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Semantics are not enough.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81025" y="4481512"/>
            <a:ext cx="52292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semantic similarity does not always equal a green job.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6381750" y="2457450"/>
            <a:ext cx="5229225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7143750" y="2743200"/>
            <a:ext cx="418147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Black"/>
                <a:ea typeface="Inter Black"/>
                <a:cs typeface="Inter Black"/>
                <a:sym typeface="Inter Black"/>
              </a:rPr>
              <a:t>"Paper Recycling"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(Generic: Used by everyone)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381750" y="3781425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381750" y="245745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381750" y="2457450"/>
            <a:ext cx="57150" cy="133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1601450" y="2457450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381750" y="4029075"/>
            <a:ext cx="5229225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143750" y="4314825"/>
            <a:ext cx="418147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Black"/>
                <a:ea typeface="Inter Black"/>
                <a:cs typeface="Inter Black"/>
                <a:sym typeface="Inter Black"/>
              </a:rPr>
              <a:t>"Decarbonisation Strategy"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(Specialized Green Capability)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6381750" y="535305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381750" y="4029075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81750" y="4029075"/>
            <a:ext cx="57150" cy="133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1601450" y="4029075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381750" y="3781425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381750" y="535305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2762250"/>
            <a:ext cx="2286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333875"/>
            <a:ext cx="2667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23987"/>
            <a:ext cx="110299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33787"/>
            <a:ext cx="53244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633787"/>
            <a:ext cx="53244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81025" y="33337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2: Relative Share Mathematics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81025" y="738187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967978" y="4371975"/>
            <a:ext cx="455056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Anchor SOCs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076325" y="5153025"/>
            <a:ext cx="43338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Establishing the baseline with undeniable green workers.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673453" y="4186237"/>
            <a:ext cx="455056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The 10x Rule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81800" y="4967287"/>
            <a:ext cx="4333875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Statistically eliminating "greenwashing" and generic buzzwords.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81025" y="528637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Phase 2.5: The Gold Standard Polish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81025" y="1233487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7287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050952" y="2776537"/>
            <a:ext cx="4294599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Final Sanity Check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81025" y="3814762"/>
            <a:ext cx="1102995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1057275" y="4291012"/>
            <a:ext cx="10077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$$ \text{Similarity to Green Pillars} \geq \mathbf{0.45} $$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995487" y="5662612"/>
            <a:ext cx="82010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Measured against strict pillars: </a:t>
            </a:r>
            <a:r>
              <a:rPr lang="en-US" sz="2100" b="0" i="1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"Net Zero", "Renewable Energy"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14650"/>
            <a:ext cx="110299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81025" y="381000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6. Phase 3: The Classification Gate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2495550" y="1885950"/>
            <a:ext cx="7200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Scanning 62.3M Adverts vs. Validated Dictionary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2857500" y="5353050"/>
            <a:ext cx="7048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Proves a core operational requirement.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2857500" y="5867400"/>
            <a:ext cx="7048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Eliminates copy-pasted HR boilerplate text.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529590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6000" y="5810250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81175"/>
            <a:ext cx="110299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Results: Green Jobs Over Time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81175"/>
            <a:ext cx="110299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Results: Green Jobs by Occupation (SOC)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Macintosh PowerPoint</Application>
  <PresentationFormat>Widescreen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Arial</vt:lpstr>
      <vt:lpstr>Inter</vt:lpstr>
      <vt:lpstr>Inter Black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Saurabh Kumar</cp:lastModifiedBy>
  <cp:revision>1</cp:revision>
  <dcterms:modified xsi:type="dcterms:W3CDTF">2026-06-22T14:47:53Z</dcterms:modified>
</cp:coreProperties>
</file>