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Poppins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  <p:embeddedFont>
      <p:font typeface="Poppins SemiBold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22" Type="http://schemas.openxmlformats.org/officeDocument/2006/relationships/font" Target="fonts/Lato-italic.fntdata"/><Relationship Id="rId21" Type="http://schemas.openxmlformats.org/officeDocument/2006/relationships/font" Target="fonts/Lato-bold.fntdata"/><Relationship Id="rId24" Type="http://schemas.openxmlformats.org/officeDocument/2006/relationships/font" Target="fonts/PoppinsSemiBold-regular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SemiBold-italic.fntdata"/><Relationship Id="rId25" Type="http://schemas.openxmlformats.org/officeDocument/2006/relationships/font" Target="fonts/PoppinsSemiBold-bold.fntdata"/><Relationship Id="rId27" Type="http://schemas.openxmlformats.org/officeDocument/2006/relationships/font" Target="fonts/Poppins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oppins-bold.fntdata"/><Relationship Id="rId16" Type="http://schemas.openxmlformats.org/officeDocument/2006/relationships/font" Target="fonts/Poppins-regular.fntdata"/><Relationship Id="rId19" Type="http://schemas.openxmlformats.org/officeDocument/2006/relationships/font" Target="fonts/Poppins-boldItalic.fntdata"/><Relationship Id="rId18" Type="http://schemas.openxmlformats.org/officeDocument/2006/relationships/font" Target="fonts/Poppins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Relationship Id="rId5" Type="http://schemas.openxmlformats.org/officeDocument/2006/relationships/image" Target="../media/image18.png"/><Relationship Id="rId6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095375" y="2463254"/>
            <a:ext cx="10001250" cy="1462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From Job Adverts to National Accounts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333500" y="4116734"/>
            <a:ext cx="9525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Using AI to Measure Data as an Asset in the UK Economy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333500" y="4817715"/>
            <a:ext cx="9525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NACD Divisional Meeting</a:t>
            </a:r>
            <a:endParaRPr/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8825" y="1682204"/>
            <a:ext cx="5143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511772"/>
            <a:ext cx="5286375" cy="3101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511772"/>
            <a:ext cx="5286375" cy="310128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6477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Challenge &amp; The Solution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71500" y="1362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1939528" y="3997672"/>
            <a:ext cx="2550318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EA580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Blind Spot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785937" y="4664422"/>
            <a:ext cx="28575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Unmeasured Intangible Data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127081" y="3997672"/>
            <a:ext cx="370046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OECD Sum-of-Costs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534275" y="4664422"/>
            <a:ext cx="288607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Value = Cost of Human Labor</a:t>
            </a:r>
            <a:endParaRPr/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57500" y="3092797"/>
            <a:ext cx="71437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0" y="3092797"/>
            <a:ext cx="428625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511772"/>
            <a:ext cx="5286375" cy="3101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511772"/>
            <a:ext cx="5286375" cy="310128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6477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Flaw in "Job Titles"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571500" y="1362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1579483" y="3983384"/>
            <a:ext cx="3270408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Software Engineer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1938337" y="4650134"/>
            <a:ext cx="25527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Standard Assumption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7142083" y="3997672"/>
            <a:ext cx="3670458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SOC 4114: Data Entry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7829550" y="4664422"/>
            <a:ext cx="22955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Hidden Workforce</a:t>
            </a:r>
            <a:endParaRPr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57500" y="3078509"/>
            <a:ext cx="71437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53462" y="3092797"/>
            <a:ext cx="647700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571500" y="6477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Alternative Data Engine</a:t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571500" y="1362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571500" y="3138487"/>
            <a:ext cx="48863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62.3M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571500" y="4662487"/>
            <a:ext cx="48863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Raw Job Adverts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7762875" y="3290887"/>
            <a:ext cx="385762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5 Years of Historical Data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7762875" y="4045148"/>
            <a:ext cx="385762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PySpark NLP Pipeline</a:t>
            </a:r>
            <a:endParaRPr/>
          </a:p>
        </p:txBody>
      </p:sp>
      <p:pic>
        <p:nvPicPr>
          <p:cNvPr descr="image.png" id="134" name="Google Shape;13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6625" y="332422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86625" y="4078485"/>
            <a:ext cx="333375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664172"/>
            <a:ext cx="3429000" cy="2796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500" y="2664172"/>
            <a:ext cx="3429000" cy="2796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1500" y="2664172"/>
            <a:ext cx="3429000" cy="279648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571500" y="6477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AI Filtration Pipeline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571500" y="1362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2152650" y="3178522"/>
            <a:ext cx="2667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1335881" y="3911947"/>
            <a:ext cx="19002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0.35 Cosine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1314450" y="4512022"/>
            <a:ext cx="19431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Semantic Boundary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5962650" y="3178522"/>
            <a:ext cx="2667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5185886" y="3911947"/>
            <a:ext cx="182022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10.0x Share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5100637" y="4512022"/>
            <a:ext cx="19907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Anchor vs. Economy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9772650" y="3178522"/>
            <a:ext cx="2667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9025890" y="3911947"/>
            <a:ext cx="17602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0.45 Polish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8963025" y="4512022"/>
            <a:ext cx="18859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Gold Standard Test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633662"/>
            <a:ext cx="11049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571500" y="6477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Classification &amp; Mapping</a:t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571500" y="1362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571500" y="2760464"/>
            <a:ext cx="5150643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Classification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571500" y="3379589"/>
            <a:ext cx="490537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≥ 3 Distinct Terms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571500" y="4229100"/>
            <a:ext cx="5150643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Allocation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571500" y="4848225"/>
            <a:ext cx="490537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Probabilistic Crosswalk (SOC → SIC)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943225"/>
            <a:ext cx="11049000" cy="110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571500" y="6477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Valuation Framework</a:t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571500" y="1362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8" name="Google Shape;17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5273" y="3333750"/>
            <a:ext cx="5441453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571500" y="4810125"/>
            <a:ext cx="5334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CoE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571500" y="5276850"/>
            <a:ext cx="5334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Compensation of Employees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6286500" y="4810125"/>
            <a:ext cx="5334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α Multiplier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6286500" y="5286375"/>
            <a:ext cx="5334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Overheads &amp; Surplus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42269"/>
            <a:ext cx="3429000" cy="3240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500" y="2442269"/>
            <a:ext cx="3429000" cy="3240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1500" y="2442269"/>
            <a:ext cx="3429000" cy="324028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571500" y="6477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Methodological Limitations</a:t>
            </a:r>
            <a:endParaRPr/>
          </a:p>
        </p:txBody>
      </p:sp>
      <p:sp>
        <p:nvSpPr>
          <p:cNvPr id="193" name="Google Shape;193;p20"/>
          <p:cNvSpPr/>
          <p:nvPr/>
        </p:nvSpPr>
        <p:spPr>
          <a:xfrm>
            <a:off x="571500" y="1362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4" name="Google Shape;19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62150" y="2956619"/>
            <a:ext cx="6477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1160859" y="3813869"/>
            <a:ext cx="225028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Flow vs. Stock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866775" y="4413944"/>
            <a:ext cx="28384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Hiring intent ≠ existing workforce.</a:t>
            </a:r>
            <a:endParaRPr/>
          </a:p>
        </p:txBody>
      </p:sp>
      <p:pic>
        <p:nvPicPr>
          <p:cNvPr descr="image.png" id="197" name="Google Shape;19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43587" y="2956619"/>
            <a:ext cx="5048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 txBox="1"/>
          <p:nvPr/>
        </p:nvSpPr>
        <p:spPr>
          <a:xfrm>
            <a:off x="4990861" y="3813869"/>
            <a:ext cx="22102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Internal Tools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4676775" y="4413944"/>
            <a:ext cx="28384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Proprietary systems are missed.</a:t>
            </a:r>
            <a:endParaRPr/>
          </a:p>
        </p:txBody>
      </p:sp>
      <p:pic>
        <p:nvPicPr>
          <p:cNvPr descr="image.png" id="200" name="Google Shape;20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0" y="2956619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8810863" y="3813869"/>
            <a:ext cx="219027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Conservative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8486775" y="4413944"/>
            <a:ext cx="28384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Precision prioritized over recall.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734145"/>
            <a:ext cx="11049000" cy="4656534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571500" y="52447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Structural Economic Shifts</a:t>
            </a:r>
            <a:endParaRPr/>
          </a:p>
        </p:txBody>
      </p:sp>
      <p:sp>
        <p:nvSpPr>
          <p:cNvPr id="211" name="Google Shape;211;p21"/>
          <p:cNvSpPr/>
          <p:nvPr/>
        </p:nvSpPr>
        <p:spPr>
          <a:xfrm>
            <a:off x="571500" y="123884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1828800" y="5874543"/>
            <a:ext cx="853440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Data capital formation is universally integrated beyond traditional tech.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2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6260544" y="2790825"/>
            <a:ext cx="5490686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1428750" y="2473821"/>
            <a:ext cx="437197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Real-Time Tracking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1428750" y="3180457"/>
            <a:ext cx="437197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Scalable Architecture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1428750" y="3887092"/>
            <a:ext cx="437197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National Accounts Ready</a:t>
            </a:r>
            <a:endParaRPr/>
          </a:p>
        </p:txBody>
      </p:sp>
      <p:pic>
        <p:nvPicPr>
          <p:cNvPr descr="image.png" id="223" name="Google Shape;22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00" y="2507158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3213794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3920430"/>
            <a:ext cx="200025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