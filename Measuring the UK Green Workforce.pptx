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nter" panose="02000503000000020004" pitchFamily="2" charset="0"/>
      <p:regular r:id="rId15"/>
      <p:bold r:id="rId16"/>
      <p:italic r:id="rId17"/>
      <p:boldItalic r:id="rId18"/>
    </p:embeddedFont>
    <p:embeddedFont>
      <p:font typeface="Inter SemiBold" panose="02000503000000020004"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6A2E85D-D8B6-45F0-92B8-3C5BC7F3C4A1}">
  <a:tblStyle styleId="{46A2E85D-D8B6-45F0-92B8-3C5BC7F3C4A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1"/>
  </p:normalViewPr>
  <p:slideViewPr>
    <p:cSldViewPr snapToGrid="0">
      <p:cViewPr varScale="1">
        <p:scale>
          <a:sx n="116" d="100"/>
          <a:sy n="116" d="100"/>
        </p:scale>
        <p:origin x="320" y="1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4557712" y="4159448"/>
            <a:ext cx="3099011" cy="974412"/>
          </a:xfrm>
          <a:prstGeom prst="rect">
            <a:avLst/>
          </a:prstGeom>
          <a:noFill/>
          <a:ln>
            <a:noFill/>
          </a:ln>
        </p:spPr>
      </p:pic>
      <p:sp>
        <p:nvSpPr>
          <p:cNvPr id="86" name="Google Shape;86;p13"/>
          <p:cNvSpPr txBox="1"/>
          <p:nvPr/>
        </p:nvSpPr>
        <p:spPr>
          <a:xfrm>
            <a:off x="305276" y="2069752"/>
            <a:ext cx="11581447" cy="733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0F172A"/>
                </a:solidFill>
                <a:latin typeface="Inter"/>
                <a:ea typeface="Inter"/>
                <a:cs typeface="Inter"/>
                <a:sym typeface="Inter"/>
              </a:rPr>
              <a:t>Identifying the UK Green Workforce</a:t>
            </a:r>
            <a:endParaRPr/>
          </a:p>
        </p:txBody>
      </p:sp>
      <p:sp>
        <p:nvSpPr>
          <p:cNvPr id="87" name="Google Shape;87;p13"/>
          <p:cNvSpPr txBox="1"/>
          <p:nvPr/>
        </p:nvSpPr>
        <p:spPr>
          <a:xfrm>
            <a:off x="581025" y="2993677"/>
            <a:ext cx="1102995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475569"/>
                </a:solidFill>
                <a:latin typeface="Inter"/>
                <a:ea typeface="Inter"/>
                <a:cs typeface="Inter"/>
                <a:sym typeface="Inter"/>
              </a:rPr>
              <a:t>A Text-Based Job Classification Methodology</a:t>
            </a:r>
            <a:endParaRPr/>
          </a:p>
        </p:txBody>
      </p:sp>
      <p:sp>
        <p:nvSpPr>
          <p:cNvPr id="88" name="Google Shape;88;p13"/>
          <p:cNvSpPr txBox="1"/>
          <p:nvPr/>
        </p:nvSpPr>
        <p:spPr>
          <a:xfrm>
            <a:off x="4862512" y="4321373"/>
            <a:ext cx="2466975"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0F172A"/>
                </a:solidFill>
                <a:latin typeface="Inter SemiBold"/>
                <a:ea typeface="Inter SemiBold"/>
                <a:cs typeface="Inter SemiBold"/>
                <a:sym typeface="Inter SemiBold"/>
              </a:rPr>
              <a:t>Data Pipeline Process Flow</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p:cNvSpPr txBox="1"/>
          <p:nvPr/>
        </p:nvSpPr>
        <p:spPr>
          <a:xfrm>
            <a:off x="581025" y="1856482"/>
            <a:ext cx="110299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Inter"/>
                <a:ea typeface="Inter"/>
                <a:cs typeface="Inter"/>
                <a:sym typeface="Inter"/>
              </a:rPr>
              <a:t>Before counting "green skills", we must teach the AI what they look like. We use the vocabulary from these indisputable environmental professionals (classified by UK SOC codes) to establish our absolute baseline of green terminology.</a:t>
            </a:r>
            <a:endParaRPr/>
          </a:p>
        </p:txBody>
      </p:sp>
      <p:graphicFrame>
        <p:nvGraphicFramePr>
          <p:cNvPr id="95" name="Google Shape;95;p14"/>
          <p:cNvGraphicFramePr/>
          <p:nvPr/>
        </p:nvGraphicFramePr>
        <p:xfrm>
          <a:off x="581025" y="2643187"/>
          <a:ext cx="11020400" cy="3491700"/>
        </p:xfrm>
        <a:graphic>
          <a:graphicData uri="http://schemas.openxmlformats.org/drawingml/2006/table">
            <a:tbl>
              <a:tblPr firstRow="1" bandRow="1">
                <a:noFill/>
                <a:tableStyleId>{46A2E85D-D8B6-45F0-92B8-3C5BC7F3C4A1}</a:tableStyleId>
              </a:tblPr>
              <a:tblGrid>
                <a:gridCol w="1653025">
                  <a:extLst>
                    <a:ext uri="{9D8B030D-6E8A-4147-A177-3AD203B41FA5}">
                      <a16:colId xmlns:a16="http://schemas.microsoft.com/office/drawing/2014/main" val="20000"/>
                    </a:ext>
                  </a:extLst>
                </a:gridCol>
                <a:gridCol w="2755100">
                  <a:extLst>
                    <a:ext uri="{9D8B030D-6E8A-4147-A177-3AD203B41FA5}">
                      <a16:colId xmlns:a16="http://schemas.microsoft.com/office/drawing/2014/main" val="20001"/>
                    </a:ext>
                  </a:extLst>
                </a:gridCol>
                <a:gridCol w="6612275">
                  <a:extLst>
                    <a:ext uri="{9D8B030D-6E8A-4147-A177-3AD203B41FA5}">
                      <a16:colId xmlns:a16="http://schemas.microsoft.com/office/drawing/2014/main" val="20002"/>
                    </a:ext>
                  </a:extLst>
                </a:gridCol>
              </a:tblGrid>
              <a:tr h="872925">
                <a:tc>
                  <a:txBody>
                    <a:bodyPr/>
                    <a:lstStyle/>
                    <a:p>
                      <a:pPr marL="0" marR="0" lvl="0" indent="0" algn="l" rtl="0">
                        <a:spcBef>
                          <a:spcPts val="0"/>
                        </a:spcBef>
                        <a:spcAft>
                          <a:spcPts val="0"/>
                        </a:spcAft>
                        <a:buNone/>
                      </a:pPr>
                      <a:r>
                        <a:rPr lang="en-US" sz="1350" b="1" i="0" u="none" strike="noStrike" cap="none">
                          <a:solidFill>
                            <a:srgbClr val="0F172A"/>
                          </a:solidFill>
                          <a:latin typeface="Inter"/>
                          <a:ea typeface="Inter"/>
                          <a:cs typeface="Inter"/>
                          <a:sym typeface="Inter"/>
                        </a:rPr>
                        <a:t>SOC Code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350" b="1" i="0" u="none" strike="noStrike" cap="none">
                          <a:solidFill>
                            <a:srgbClr val="0F172A"/>
                          </a:solidFill>
                          <a:latin typeface="Inter"/>
                          <a:ea typeface="Inter"/>
                          <a:cs typeface="Inter"/>
                          <a:sym typeface="Inter"/>
                        </a:rPr>
                        <a:t>Occupation Name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350" b="1" i="0" u="none" strike="noStrike" cap="none">
                          <a:solidFill>
                            <a:srgbClr val="0F172A"/>
                          </a:solidFill>
                          <a:latin typeface="Inter"/>
                          <a:ea typeface="Inter"/>
                          <a:cs typeface="Inter"/>
                          <a:sym typeface="Inter"/>
                        </a:rPr>
                        <a:t>Description &amp; Role in Pipeline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872925">
                <a:tc>
                  <a:txBody>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2142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Inter SemiBold"/>
                          <a:ea typeface="Inter SemiBold"/>
                          <a:cs typeface="Inter SemiBold"/>
                          <a:sym typeface="Inter SemiBold"/>
                        </a:rPr>
                        <a:t>Environment Professionals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Investigate, address, and advise on environmental impacts, conservation, and corporate sustainability strategies. (Core environmental terminology).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72925">
                <a:tc>
                  <a:txBody>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2152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Inter SemiBold"/>
                          <a:ea typeface="Inter SemiBold"/>
                          <a:cs typeface="Inter SemiBold"/>
                          <a:sym typeface="Inter SemiBold"/>
                        </a:rPr>
                        <a:t>Energy Plant Controllers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Operate and control renewable and traditional energy generation facilities. (Provides heavy technical vocabulary for the energy transition).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872925">
                <a:tc>
                  <a:txBody>
                    <a:bodyPr/>
                    <a:lstStyle/>
                    <a:p>
                      <a:pPr marL="0" marR="0" lvl="0" indent="0" algn="l" rtl="0">
                        <a:spcBef>
                          <a:spcPts val="0"/>
                        </a:spcBef>
                        <a:spcAft>
                          <a:spcPts val="0"/>
                        </a:spcAft>
                        <a:buNone/>
                      </a:pPr>
                      <a:r>
                        <a:rPr lang="en-US" sz="1350" b="1" i="0" u="none" strike="noStrike" cap="none">
                          <a:solidFill>
                            <a:srgbClr val="334155"/>
                          </a:solidFill>
                          <a:latin typeface="Inter"/>
                          <a:ea typeface="Inter"/>
                          <a:cs typeface="Inter"/>
                          <a:sym typeface="Inter"/>
                        </a:rPr>
                        <a:t>5111 / 5112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Inter SemiBold"/>
                          <a:ea typeface="Inter SemiBold"/>
                          <a:cs typeface="Inter SemiBold"/>
                          <a:sym typeface="Inter SemiBold"/>
                        </a:rPr>
                        <a:t>Farmers &amp; Horticultural Trades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Direct management of land, crops, forestry, and ecological conservation. (Provides essential vocabulary for biodiversity and land use).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96" name="Google Shape;96;p14"/>
          <p:cNvSpPr/>
          <p:nvPr/>
        </p:nvSpPr>
        <p:spPr>
          <a:xfrm>
            <a:off x="585787" y="3303240"/>
            <a:ext cx="165303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14"/>
          <p:cNvSpPr/>
          <p:nvPr/>
        </p:nvSpPr>
        <p:spPr>
          <a:xfrm>
            <a:off x="2238821" y="3303240"/>
            <a:ext cx="2755106"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 name="Google Shape;98;p14"/>
          <p:cNvSpPr/>
          <p:nvPr/>
        </p:nvSpPr>
        <p:spPr>
          <a:xfrm>
            <a:off x="4993927" y="3303240"/>
            <a:ext cx="66122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4"/>
          <p:cNvSpPr/>
          <p:nvPr/>
        </p:nvSpPr>
        <p:spPr>
          <a:xfrm>
            <a:off x="585787" y="4242345"/>
            <a:ext cx="165303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 name="Google Shape;100;p14"/>
          <p:cNvSpPr/>
          <p:nvPr/>
        </p:nvSpPr>
        <p:spPr>
          <a:xfrm>
            <a:off x="2238821" y="4242345"/>
            <a:ext cx="2755106"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1" name="Google Shape;101;p14"/>
          <p:cNvSpPr/>
          <p:nvPr/>
        </p:nvSpPr>
        <p:spPr>
          <a:xfrm>
            <a:off x="4993927" y="4242345"/>
            <a:ext cx="66122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4"/>
          <p:cNvSpPr/>
          <p:nvPr/>
        </p:nvSpPr>
        <p:spPr>
          <a:xfrm>
            <a:off x="585787" y="5181451"/>
            <a:ext cx="165303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4"/>
          <p:cNvSpPr/>
          <p:nvPr/>
        </p:nvSpPr>
        <p:spPr>
          <a:xfrm>
            <a:off x="2238821" y="5181451"/>
            <a:ext cx="2755106"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 name="Google Shape;104;p14"/>
          <p:cNvSpPr/>
          <p:nvPr/>
        </p:nvSpPr>
        <p:spPr>
          <a:xfrm>
            <a:off x="4993927" y="5181451"/>
            <a:ext cx="66122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 name="Google Shape;105;p14"/>
          <p:cNvSpPr/>
          <p:nvPr/>
        </p:nvSpPr>
        <p:spPr>
          <a:xfrm>
            <a:off x="585787" y="6120556"/>
            <a:ext cx="165303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4"/>
          <p:cNvSpPr/>
          <p:nvPr/>
        </p:nvSpPr>
        <p:spPr>
          <a:xfrm>
            <a:off x="2238821" y="6120556"/>
            <a:ext cx="2755106"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 name="Google Shape;107;p14"/>
          <p:cNvSpPr/>
          <p:nvPr/>
        </p:nvSpPr>
        <p:spPr>
          <a:xfrm>
            <a:off x="4993927" y="6120556"/>
            <a:ext cx="66122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4"/>
          <p:cNvSpPr txBox="1"/>
          <p:nvPr/>
        </p:nvSpPr>
        <p:spPr>
          <a:xfrm>
            <a:off x="581025" y="581025"/>
            <a:ext cx="11581447"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293B"/>
                </a:solidFill>
                <a:latin typeface="Inter"/>
                <a:ea typeface="Inter"/>
                <a:cs typeface="Inter"/>
                <a:sym typeface="Inter"/>
              </a:rPr>
              <a:t>The Foundation: Anchor Occupations</a:t>
            </a:r>
            <a:endParaRPr/>
          </a:p>
        </p:txBody>
      </p:sp>
      <p:sp>
        <p:nvSpPr>
          <p:cNvPr id="109" name="Google Shape;109;p14"/>
          <p:cNvSpPr/>
          <p:nvPr/>
        </p:nvSpPr>
        <p:spPr>
          <a:xfrm>
            <a:off x="581025" y="1143000"/>
            <a:ext cx="110299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
        <p:cNvGrpSpPr/>
        <p:nvPr/>
      </p:nvGrpSpPr>
      <p:grpSpPr>
        <a:xfrm>
          <a:off x="0" y="0"/>
          <a:ext cx="0" cy="0"/>
          <a:chOff x="0" y="0"/>
          <a:chExt cx="0" cy="0"/>
        </a:xfrm>
      </p:grpSpPr>
      <p:pic>
        <p:nvPicPr>
          <p:cNvPr id="114" name="Google Shape;114;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5" name="Google Shape;115;p15"/>
          <p:cNvSpPr txBox="1"/>
          <p:nvPr/>
        </p:nvSpPr>
        <p:spPr>
          <a:xfrm>
            <a:off x="5109942" y="2310705"/>
            <a:ext cx="1971965"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0F172A"/>
                </a:solidFill>
                <a:latin typeface="Inter"/>
                <a:ea typeface="Inter"/>
                <a:cs typeface="Inter"/>
                <a:sym typeface="Inter"/>
              </a:rPr>
              <a:t>Phase 1</a:t>
            </a:r>
            <a:endParaRPr/>
          </a:p>
        </p:txBody>
      </p:sp>
      <p:sp>
        <p:nvSpPr>
          <p:cNvPr id="116" name="Google Shape;116;p15"/>
          <p:cNvSpPr/>
          <p:nvPr/>
        </p:nvSpPr>
        <p:spPr>
          <a:xfrm>
            <a:off x="5619750" y="3244155"/>
            <a:ext cx="952500" cy="57150"/>
          </a:xfrm>
          <a:prstGeom prst="rect">
            <a:avLst/>
          </a:prstGeom>
          <a:solidFill>
            <a:srgbClr val="0596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 name="Google Shape;117;p15"/>
          <p:cNvSpPr txBox="1"/>
          <p:nvPr/>
        </p:nvSpPr>
        <p:spPr>
          <a:xfrm>
            <a:off x="3848100" y="3853755"/>
            <a:ext cx="4495800"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334155"/>
                </a:solidFill>
                <a:latin typeface="Inter"/>
                <a:ea typeface="Inter"/>
                <a:cs typeface="Inter"/>
                <a:sym typeface="Inter"/>
              </a:rPr>
              <a:t>NLP Extraction &amp; Semantic Filtering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1"/>
        <p:cNvGrpSpPr/>
        <p:nvPr/>
      </p:nvGrpSpPr>
      <p:grpSpPr>
        <a:xfrm>
          <a:off x="0" y="0"/>
          <a:ext cx="0" cy="0"/>
          <a:chOff x="0" y="0"/>
          <a:chExt cx="0" cy="0"/>
        </a:xfrm>
      </p:grpSpPr>
      <p:pic>
        <p:nvPicPr>
          <p:cNvPr id="122" name="Google Shape;122;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3" name="Google Shape;123;p16" descr="image.png"/>
          <p:cNvPicPr preferRelativeResize="0"/>
          <p:nvPr/>
        </p:nvPicPr>
        <p:blipFill rotWithShape="1">
          <a:blip r:embed="rId4">
            <a:alphaModFix/>
          </a:blip>
          <a:srcRect/>
          <a:stretch/>
        </p:blipFill>
        <p:spPr>
          <a:xfrm>
            <a:off x="581025" y="1590675"/>
            <a:ext cx="11029950" cy="4686300"/>
          </a:xfrm>
          <a:prstGeom prst="rect">
            <a:avLst/>
          </a:prstGeom>
          <a:noFill/>
          <a:ln>
            <a:noFill/>
          </a:ln>
        </p:spPr>
      </p:pic>
      <p:sp>
        <p:nvSpPr>
          <p:cNvPr id="124" name="Google Shape;124;p16"/>
          <p:cNvSpPr txBox="1"/>
          <p:nvPr/>
        </p:nvSpPr>
        <p:spPr>
          <a:xfrm>
            <a:off x="581025" y="1853654"/>
            <a:ext cx="110299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Inter"/>
                <a:ea typeface="Inter"/>
                <a:cs typeface="Inter"/>
                <a:sym typeface="Inter"/>
              </a:rPr>
              <a:t>We load SpaCy's "Large" English AI model. It was trained on millions of web articles and contains over 500,000 unique mathematical word vectors, allowing it to understand complex engineering terminology.</a:t>
            </a:r>
            <a:endParaRPr/>
          </a:p>
        </p:txBody>
      </p:sp>
      <p:sp>
        <p:nvSpPr>
          <p:cNvPr id="125" name="Google Shape;125;p16"/>
          <p:cNvSpPr txBox="1"/>
          <p:nvPr/>
        </p:nvSpPr>
        <p:spPr>
          <a:xfrm>
            <a:off x="581025" y="581025"/>
            <a:ext cx="11581447"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293B"/>
                </a:solidFill>
                <a:latin typeface="Inter"/>
                <a:ea typeface="Inter"/>
                <a:cs typeface="Inter"/>
                <a:sym typeface="Inter"/>
              </a:rPr>
              <a:t>The AI Engine: How en_core_web_lg Works</a:t>
            </a:r>
            <a:endParaRPr/>
          </a:p>
        </p:txBody>
      </p:sp>
      <p:sp>
        <p:nvSpPr>
          <p:cNvPr id="126" name="Google Shape;126;p16"/>
          <p:cNvSpPr/>
          <p:nvPr/>
        </p:nvSpPr>
        <p:spPr>
          <a:xfrm>
            <a:off x="581025" y="1190625"/>
            <a:ext cx="110299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0"/>
        <p:cNvGrpSpPr/>
        <p:nvPr/>
      </p:nvGrpSpPr>
      <p:grpSpPr>
        <a:xfrm>
          <a:off x="0" y="0"/>
          <a:ext cx="0" cy="0"/>
          <a:chOff x="0" y="0"/>
          <a:chExt cx="0" cy="0"/>
        </a:xfrm>
      </p:grpSpPr>
      <p:pic>
        <p:nvPicPr>
          <p:cNvPr id="131" name="Google Shape;131;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2" name="Google Shape;132;p17" descr="image.png"/>
          <p:cNvPicPr preferRelativeResize="0"/>
          <p:nvPr/>
        </p:nvPicPr>
        <p:blipFill rotWithShape="1">
          <a:blip r:embed="rId4">
            <a:alphaModFix/>
          </a:blip>
          <a:srcRect/>
          <a:stretch/>
        </p:blipFill>
        <p:spPr>
          <a:xfrm>
            <a:off x="581025" y="1543050"/>
            <a:ext cx="11029950" cy="4733925"/>
          </a:xfrm>
          <a:prstGeom prst="rect">
            <a:avLst/>
          </a:prstGeom>
          <a:noFill/>
          <a:ln>
            <a:noFill/>
          </a:ln>
        </p:spPr>
      </p:pic>
      <p:sp>
        <p:nvSpPr>
          <p:cNvPr id="133" name="Google Shape;133;p17"/>
          <p:cNvSpPr txBox="1"/>
          <p:nvPr/>
        </p:nvSpPr>
        <p:spPr>
          <a:xfrm>
            <a:off x="581025" y="581025"/>
            <a:ext cx="11581447"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293B"/>
                </a:solidFill>
                <a:latin typeface="Inter"/>
                <a:ea typeface="Inter"/>
                <a:cs typeface="Inter"/>
                <a:sym typeface="Inter"/>
              </a:rPr>
              <a:t>Phase 1: Process Flow</a:t>
            </a:r>
            <a:endParaRPr/>
          </a:p>
        </p:txBody>
      </p:sp>
      <p:sp>
        <p:nvSpPr>
          <p:cNvPr id="134" name="Google Shape;134;p17"/>
          <p:cNvSpPr/>
          <p:nvPr/>
        </p:nvSpPr>
        <p:spPr>
          <a:xfrm>
            <a:off x="581025" y="1143000"/>
            <a:ext cx="110299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8"/>
        <p:cNvGrpSpPr/>
        <p:nvPr/>
      </p:nvGrpSpPr>
      <p:grpSpPr>
        <a:xfrm>
          <a:off x="0" y="0"/>
          <a:ext cx="0" cy="0"/>
          <a:chOff x="0" y="0"/>
          <a:chExt cx="0" cy="0"/>
        </a:xfrm>
      </p:grpSpPr>
      <p:pic>
        <p:nvPicPr>
          <p:cNvPr id="139" name="Google Shape;139;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0" name="Google Shape;140;p18"/>
          <p:cNvSpPr txBox="1"/>
          <p:nvPr/>
        </p:nvSpPr>
        <p:spPr>
          <a:xfrm>
            <a:off x="581025" y="3033712"/>
            <a:ext cx="4876800" cy="1333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500" b="1" i="0" u="none" strike="noStrike" cap="none">
                <a:solidFill>
                  <a:srgbClr val="059669"/>
                </a:solidFill>
                <a:latin typeface="Inter"/>
                <a:ea typeface="Inter"/>
                <a:cs typeface="Inter"/>
                <a:sym typeface="Inter"/>
              </a:rPr>
              <a:t>0.35</a:t>
            </a:r>
            <a:endParaRPr/>
          </a:p>
        </p:txBody>
      </p:sp>
      <p:sp>
        <p:nvSpPr>
          <p:cNvPr id="141" name="Google Shape;141;p18"/>
          <p:cNvSpPr txBox="1"/>
          <p:nvPr/>
        </p:nvSpPr>
        <p:spPr>
          <a:xfrm>
            <a:off x="581025" y="4510087"/>
            <a:ext cx="487680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0F172A"/>
                </a:solidFill>
                <a:latin typeface="Inter SemiBold"/>
                <a:ea typeface="Inter SemiBold"/>
                <a:cs typeface="Inter SemiBold"/>
                <a:sym typeface="Inter SemiBold"/>
              </a:rPr>
              <a:t>Minimum Cosine Similarity</a:t>
            </a:r>
            <a:endParaRPr/>
          </a:p>
        </p:txBody>
      </p:sp>
      <p:sp>
        <p:nvSpPr>
          <p:cNvPr id="142" name="Google Shape;142;p18"/>
          <p:cNvSpPr txBox="1"/>
          <p:nvPr/>
        </p:nvSpPr>
        <p:spPr>
          <a:xfrm>
            <a:off x="6524625" y="2587079"/>
            <a:ext cx="5340667"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F172A"/>
                </a:solidFill>
                <a:latin typeface="Inter"/>
                <a:ea typeface="Inter"/>
                <a:cs typeface="Inter"/>
                <a:sym typeface="Inter"/>
              </a:rPr>
              <a:t>Balancing Precision and Recall</a:t>
            </a:r>
            <a:endParaRPr/>
          </a:p>
        </p:txBody>
      </p:sp>
      <p:sp>
        <p:nvSpPr>
          <p:cNvPr id="143" name="Google Shape;143;p18"/>
          <p:cNvSpPr txBox="1"/>
          <p:nvPr/>
        </p:nvSpPr>
        <p:spPr>
          <a:xfrm>
            <a:off x="6524625" y="3034754"/>
            <a:ext cx="50863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Inter"/>
                <a:ea typeface="Inter"/>
                <a:cs typeface="Inter"/>
                <a:sym typeface="Inter"/>
              </a:rPr>
              <a:t>The algorithm measures the distance between extracted words and "environment" in a multi-dimensional AI space.</a:t>
            </a:r>
            <a:endParaRPr/>
          </a:p>
        </p:txBody>
      </p:sp>
      <p:sp>
        <p:nvSpPr>
          <p:cNvPr id="144" name="Google Shape;144;p18"/>
          <p:cNvSpPr txBox="1"/>
          <p:nvPr/>
        </p:nvSpPr>
        <p:spPr>
          <a:xfrm>
            <a:off x="6524625" y="3773834"/>
            <a:ext cx="50863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Inter"/>
                <a:ea typeface="Inter"/>
                <a:cs typeface="Inter"/>
                <a:sym typeface="Inter"/>
              </a:rPr>
              <a:t>PASS (&gt; 0.35):</a:t>
            </a:r>
            <a:r>
              <a:rPr lang="en-US" sz="1350" b="0" i="0" u="none" strike="noStrike" cap="none">
                <a:solidFill>
                  <a:srgbClr val="334155"/>
                </a:solidFill>
                <a:latin typeface="Inter"/>
                <a:ea typeface="Inter"/>
                <a:cs typeface="Inter"/>
                <a:sym typeface="Inter"/>
              </a:rPr>
              <a:t> Functional terms like "photovoltaic cells" or "carbon footprint".</a:t>
            </a:r>
            <a:endParaRPr/>
          </a:p>
        </p:txBody>
      </p:sp>
      <p:sp>
        <p:nvSpPr>
          <p:cNvPr id="145" name="Google Shape;145;p18"/>
          <p:cNvSpPr txBox="1"/>
          <p:nvPr/>
        </p:nvSpPr>
        <p:spPr>
          <a:xfrm>
            <a:off x="6524625" y="4512915"/>
            <a:ext cx="50863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Inter"/>
                <a:ea typeface="Inter"/>
                <a:cs typeface="Inter"/>
                <a:sym typeface="Inter"/>
              </a:rPr>
              <a:t>FAIL (&lt; 0.35):</a:t>
            </a:r>
            <a:r>
              <a:rPr lang="en-US" sz="1350" b="0" i="0" u="none" strike="noStrike" cap="none">
                <a:solidFill>
                  <a:srgbClr val="334155"/>
                </a:solidFill>
                <a:latin typeface="Inter"/>
                <a:ea typeface="Inter"/>
                <a:cs typeface="Inter"/>
                <a:sym typeface="Inter"/>
              </a:rPr>
              <a:t> Unrelated business jargon like "office catering" or "team payroll".</a:t>
            </a:r>
            <a:endParaRPr/>
          </a:p>
        </p:txBody>
      </p:sp>
      <p:sp>
        <p:nvSpPr>
          <p:cNvPr id="146" name="Google Shape;146;p18"/>
          <p:cNvSpPr txBox="1"/>
          <p:nvPr/>
        </p:nvSpPr>
        <p:spPr>
          <a:xfrm>
            <a:off x="581025" y="581025"/>
            <a:ext cx="11581447"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293B"/>
                </a:solidFill>
                <a:latin typeface="Inter"/>
                <a:ea typeface="Inter"/>
                <a:cs typeface="Inter"/>
                <a:sym typeface="Inter"/>
              </a:rPr>
              <a:t>The Semantic Baseline</a:t>
            </a:r>
            <a:endParaRPr/>
          </a:p>
        </p:txBody>
      </p:sp>
      <p:sp>
        <p:nvSpPr>
          <p:cNvPr id="147" name="Google Shape;147;p18"/>
          <p:cNvSpPr/>
          <p:nvPr/>
        </p:nvSpPr>
        <p:spPr>
          <a:xfrm>
            <a:off x="581025" y="1143000"/>
            <a:ext cx="110299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pic>
        <p:nvPicPr>
          <p:cNvPr id="152" name="Google Shape;152;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3" name="Google Shape;153;p19"/>
          <p:cNvSpPr txBox="1"/>
          <p:nvPr/>
        </p:nvSpPr>
        <p:spPr>
          <a:xfrm>
            <a:off x="5054936" y="2310705"/>
            <a:ext cx="2081978"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0F172A"/>
                </a:solidFill>
                <a:latin typeface="Inter"/>
                <a:ea typeface="Inter"/>
                <a:cs typeface="Inter"/>
                <a:sym typeface="Inter"/>
              </a:rPr>
              <a:t>Phase 2</a:t>
            </a:r>
            <a:endParaRPr/>
          </a:p>
        </p:txBody>
      </p:sp>
      <p:sp>
        <p:nvSpPr>
          <p:cNvPr id="154" name="Google Shape;154;p19"/>
          <p:cNvSpPr/>
          <p:nvPr/>
        </p:nvSpPr>
        <p:spPr>
          <a:xfrm>
            <a:off x="5619750" y="3244155"/>
            <a:ext cx="952500" cy="57150"/>
          </a:xfrm>
          <a:prstGeom prst="rect">
            <a:avLst/>
          </a:prstGeom>
          <a:solidFill>
            <a:srgbClr val="0596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9"/>
          <p:cNvSpPr txBox="1"/>
          <p:nvPr/>
        </p:nvSpPr>
        <p:spPr>
          <a:xfrm>
            <a:off x="3462337" y="3853755"/>
            <a:ext cx="5267325"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334155"/>
                </a:solidFill>
                <a:latin typeface="Inter"/>
                <a:ea typeface="Inter"/>
                <a:cs typeface="Inter"/>
                <a:sym typeface="Inter"/>
              </a:rPr>
              <a:t>Statistical Validation &amp; Dictionary Building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9"/>
        <p:cNvGrpSpPr/>
        <p:nvPr/>
      </p:nvGrpSpPr>
      <p:grpSpPr>
        <a:xfrm>
          <a:off x="0" y="0"/>
          <a:ext cx="0" cy="0"/>
          <a:chOff x="0" y="0"/>
          <a:chExt cx="0" cy="0"/>
        </a:xfrm>
      </p:grpSpPr>
      <p:pic>
        <p:nvPicPr>
          <p:cNvPr id="160" name="Google Shape;160;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1" name="Google Shape;161;p20" descr="image.png"/>
          <p:cNvPicPr preferRelativeResize="0"/>
          <p:nvPr/>
        </p:nvPicPr>
        <p:blipFill rotWithShape="1">
          <a:blip r:embed="rId4">
            <a:alphaModFix/>
          </a:blip>
          <a:srcRect/>
          <a:stretch/>
        </p:blipFill>
        <p:spPr>
          <a:xfrm>
            <a:off x="581025" y="1543050"/>
            <a:ext cx="11029950" cy="4733925"/>
          </a:xfrm>
          <a:prstGeom prst="rect">
            <a:avLst/>
          </a:prstGeom>
          <a:noFill/>
          <a:ln>
            <a:noFill/>
          </a:ln>
        </p:spPr>
      </p:pic>
      <p:sp>
        <p:nvSpPr>
          <p:cNvPr id="162" name="Google Shape;162;p20"/>
          <p:cNvSpPr txBox="1"/>
          <p:nvPr/>
        </p:nvSpPr>
        <p:spPr>
          <a:xfrm>
            <a:off x="581025" y="581025"/>
            <a:ext cx="11581447"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293B"/>
                </a:solidFill>
                <a:latin typeface="Inter"/>
                <a:ea typeface="Inter"/>
                <a:cs typeface="Inter"/>
                <a:sym typeface="Inter"/>
              </a:rPr>
              <a:t>Phase 2: Validation Flow</a:t>
            </a:r>
            <a:endParaRPr/>
          </a:p>
        </p:txBody>
      </p:sp>
      <p:sp>
        <p:nvSpPr>
          <p:cNvPr id="163" name="Google Shape;163;p20"/>
          <p:cNvSpPr/>
          <p:nvPr/>
        </p:nvSpPr>
        <p:spPr>
          <a:xfrm>
            <a:off x="581025" y="1143000"/>
            <a:ext cx="110299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7"/>
        <p:cNvGrpSpPr/>
        <p:nvPr/>
      </p:nvGrpSpPr>
      <p:grpSpPr>
        <a:xfrm>
          <a:off x="0" y="0"/>
          <a:ext cx="0" cy="0"/>
          <a:chOff x="0" y="0"/>
          <a:chExt cx="0" cy="0"/>
        </a:xfrm>
      </p:grpSpPr>
      <p:pic>
        <p:nvPicPr>
          <p:cNvPr id="168" name="Google Shape;168;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9" name="Google Shape;169;p21"/>
          <p:cNvSpPr/>
          <p:nvPr/>
        </p:nvSpPr>
        <p:spPr>
          <a:xfrm>
            <a:off x="1333500" y="2038350"/>
            <a:ext cx="9525000" cy="1009650"/>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21"/>
          <p:cNvSpPr txBox="1"/>
          <p:nvPr/>
        </p:nvSpPr>
        <p:spPr>
          <a:xfrm>
            <a:off x="1905000" y="2228850"/>
            <a:ext cx="8763000" cy="6286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Inter"/>
                <a:ea typeface="Inter"/>
                <a:cs typeface="Inter"/>
                <a:sym typeface="Inter"/>
              </a:rPr>
              <a:t>The Problem:</a:t>
            </a:r>
            <a:r>
              <a:rPr lang="en-US" sz="1500" b="0" i="0" u="none" strike="noStrike" cap="none">
                <a:solidFill>
                  <a:srgbClr val="334155"/>
                </a:solidFill>
                <a:latin typeface="Inter"/>
                <a:ea typeface="Inter"/>
                <a:cs typeface="Inter"/>
                <a:sym typeface="Inter"/>
              </a:rPr>
              <a:t> The phrase "paper recycling" is environmentally related, but almost every office worker uses a bin. Without statistical checks, the entire UK would be classified as "Green."</a:t>
            </a:r>
            <a:endParaRPr/>
          </a:p>
        </p:txBody>
      </p:sp>
      <p:sp>
        <p:nvSpPr>
          <p:cNvPr id="171" name="Google Shape;171;p21"/>
          <p:cNvSpPr/>
          <p:nvPr/>
        </p:nvSpPr>
        <p:spPr>
          <a:xfrm>
            <a:off x="1333500" y="3286125"/>
            <a:ext cx="9525000" cy="1009650"/>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21"/>
          <p:cNvSpPr txBox="1"/>
          <p:nvPr/>
        </p:nvSpPr>
        <p:spPr>
          <a:xfrm>
            <a:off x="1905000" y="3476625"/>
            <a:ext cx="8763000" cy="6286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Inter"/>
                <a:ea typeface="Inter"/>
                <a:cs typeface="Inter"/>
                <a:sym typeface="Inter"/>
              </a:rPr>
              <a:t>The Valid Universe:</a:t>
            </a:r>
            <a:r>
              <a:rPr lang="en-US" sz="1500" b="0" i="0" u="none" strike="noStrike" cap="none">
                <a:solidFill>
                  <a:srgbClr val="334155"/>
                </a:solidFill>
                <a:latin typeface="Inter"/>
                <a:ea typeface="Inter"/>
                <a:cs typeface="Inter"/>
                <a:sym typeface="Inter"/>
              </a:rPr>
              <a:t> We only calculate frequencies against adverts that mention at least one green term. This removes "silent" manual labor jobs from skewing the denominator.</a:t>
            </a:r>
            <a:endParaRPr/>
          </a:p>
        </p:txBody>
      </p:sp>
      <p:sp>
        <p:nvSpPr>
          <p:cNvPr id="173" name="Google Shape;173;p21"/>
          <p:cNvSpPr/>
          <p:nvPr/>
        </p:nvSpPr>
        <p:spPr>
          <a:xfrm>
            <a:off x="1333500" y="4533900"/>
            <a:ext cx="9525000" cy="1009650"/>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4" name="Google Shape;174;p21"/>
          <p:cNvSpPr txBox="1"/>
          <p:nvPr/>
        </p:nvSpPr>
        <p:spPr>
          <a:xfrm>
            <a:off x="1905000" y="4724400"/>
            <a:ext cx="8763000" cy="6286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Inter"/>
                <a:ea typeface="Inter"/>
                <a:cs typeface="Inter"/>
                <a:sym typeface="Inter"/>
              </a:rPr>
              <a:t>Document Frequency:</a:t>
            </a:r>
            <a:r>
              <a:rPr lang="en-US" sz="1500" b="0" i="0" u="none" strike="noStrike" cap="none">
                <a:solidFill>
                  <a:srgbClr val="334155"/>
                </a:solidFill>
                <a:latin typeface="Inter"/>
                <a:ea typeface="Inter"/>
                <a:cs typeface="Inter"/>
                <a:sym typeface="Inter"/>
              </a:rPr>
              <a:t> To eliminate one-off typos or repetitive recruiters, a word must appear in a minimum of 500 distinct job advertisements to be considered real.</a:t>
            </a:r>
            <a:endParaRPr/>
          </a:p>
        </p:txBody>
      </p:sp>
      <p:sp>
        <p:nvSpPr>
          <p:cNvPr id="175" name="Google Shape;175;p21"/>
          <p:cNvSpPr/>
          <p:nvPr/>
        </p:nvSpPr>
        <p:spPr>
          <a:xfrm>
            <a:off x="1333500" y="3038475"/>
            <a:ext cx="95250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6" name="Google Shape;176;p21"/>
          <p:cNvSpPr/>
          <p:nvPr/>
        </p:nvSpPr>
        <p:spPr>
          <a:xfrm>
            <a:off x="1333500" y="4286250"/>
            <a:ext cx="95250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21"/>
          <p:cNvSpPr/>
          <p:nvPr/>
        </p:nvSpPr>
        <p:spPr>
          <a:xfrm>
            <a:off x="1333500" y="5534025"/>
            <a:ext cx="95250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8" name="Google Shape;178;p21" descr="image.png"/>
          <p:cNvPicPr preferRelativeResize="0"/>
          <p:nvPr/>
        </p:nvPicPr>
        <p:blipFill rotWithShape="1">
          <a:blip r:embed="rId4">
            <a:alphaModFix/>
          </a:blip>
          <a:srcRect/>
          <a:stretch/>
        </p:blipFill>
        <p:spPr>
          <a:xfrm>
            <a:off x="1533525" y="2247900"/>
            <a:ext cx="228600" cy="247650"/>
          </a:xfrm>
          <a:prstGeom prst="rect">
            <a:avLst/>
          </a:prstGeom>
          <a:noFill/>
          <a:ln>
            <a:noFill/>
          </a:ln>
        </p:spPr>
      </p:pic>
      <p:pic>
        <p:nvPicPr>
          <p:cNvPr id="179" name="Google Shape;179;p21" descr="image.png"/>
          <p:cNvPicPr preferRelativeResize="0"/>
          <p:nvPr/>
        </p:nvPicPr>
        <p:blipFill rotWithShape="1">
          <a:blip r:embed="rId5">
            <a:alphaModFix/>
          </a:blip>
          <a:srcRect/>
          <a:stretch/>
        </p:blipFill>
        <p:spPr>
          <a:xfrm>
            <a:off x="1533525" y="3495675"/>
            <a:ext cx="228600" cy="247650"/>
          </a:xfrm>
          <a:prstGeom prst="rect">
            <a:avLst/>
          </a:prstGeom>
          <a:noFill/>
          <a:ln>
            <a:noFill/>
          </a:ln>
        </p:spPr>
      </p:pic>
      <p:pic>
        <p:nvPicPr>
          <p:cNvPr id="180" name="Google Shape;180;p21" descr="image.png"/>
          <p:cNvPicPr preferRelativeResize="0"/>
          <p:nvPr/>
        </p:nvPicPr>
        <p:blipFill rotWithShape="1">
          <a:blip r:embed="rId6">
            <a:alphaModFix/>
          </a:blip>
          <a:srcRect/>
          <a:stretch/>
        </p:blipFill>
        <p:spPr>
          <a:xfrm>
            <a:off x="1533525" y="4743450"/>
            <a:ext cx="257175" cy="247650"/>
          </a:xfrm>
          <a:prstGeom prst="rect">
            <a:avLst/>
          </a:prstGeom>
          <a:noFill/>
          <a:ln>
            <a:noFill/>
          </a:ln>
        </p:spPr>
      </p:pic>
      <p:sp>
        <p:nvSpPr>
          <p:cNvPr id="181" name="Google Shape;181;p21"/>
          <p:cNvSpPr txBox="1"/>
          <p:nvPr/>
        </p:nvSpPr>
        <p:spPr>
          <a:xfrm>
            <a:off x="581025" y="581025"/>
            <a:ext cx="11581447"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293B"/>
                </a:solidFill>
                <a:latin typeface="Inter"/>
                <a:ea typeface="Inter"/>
                <a:cs typeface="Inter"/>
                <a:sym typeface="Inter"/>
              </a:rPr>
              <a:t>Solving the Buzzword Problem</a:t>
            </a:r>
            <a:endParaRPr/>
          </a:p>
        </p:txBody>
      </p:sp>
      <p:sp>
        <p:nvSpPr>
          <p:cNvPr id="182" name="Google Shape;182;p21"/>
          <p:cNvSpPr/>
          <p:nvPr/>
        </p:nvSpPr>
        <p:spPr>
          <a:xfrm>
            <a:off x="581025" y="1143000"/>
            <a:ext cx="110299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6"/>
        <p:cNvGrpSpPr/>
        <p:nvPr/>
      </p:nvGrpSpPr>
      <p:grpSpPr>
        <a:xfrm>
          <a:off x="0" y="0"/>
          <a:ext cx="0" cy="0"/>
          <a:chOff x="0" y="0"/>
          <a:chExt cx="0" cy="0"/>
        </a:xfrm>
      </p:grpSpPr>
      <p:pic>
        <p:nvPicPr>
          <p:cNvPr id="187" name="Google Shape;187;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8" name="Google Shape;188;p22"/>
          <p:cNvSpPr txBox="1"/>
          <p:nvPr/>
        </p:nvSpPr>
        <p:spPr>
          <a:xfrm>
            <a:off x="5049935" y="2310705"/>
            <a:ext cx="2091980"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0F172A"/>
                </a:solidFill>
                <a:latin typeface="Inter"/>
                <a:ea typeface="Inter"/>
                <a:cs typeface="Inter"/>
                <a:sym typeface="Inter"/>
              </a:rPr>
              <a:t>Phase 3</a:t>
            </a:r>
            <a:endParaRPr/>
          </a:p>
        </p:txBody>
      </p:sp>
      <p:sp>
        <p:nvSpPr>
          <p:cNvPr id="189" name="Google Shape;189;p22"/>
          <p:cNvSpPr/>
          <p:nvPr/>
        </p:nvSpPr>
        <p:spPr>
          <a:xfrm>
            <a:off x="5619750" y="3244155"/>
            <a:ext cx="952500" cy="57150"/>
          </a:xfrm>
          <a:prstGeom prst="rect">
            <a:avLst/>
          </a:prstGeom>
          <a:solidFill>
            <a:srgbClr val="0596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22"/>
          <p:cNvSpPr txBox="1"/>
          <p:nvPr/>
        </p:nvSpPr>
        <p:spPr>
          <a:xfrm>
            <a:off x="4233862" y="3853755"/>
            <a:ext cx="3724275"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334155"/>
                </a:solidFill>
                <a:latin typeface="Inter"/>
                <a:ea typeface="Inter"/>
                <a:cs typeface="Inter"/>
                <a:sym typeface="Inter"/>
              </a:rPr>
              <a:t>Economy-Wide Classification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4"/>
        <p:cNvGrpSpPr/>
        <p:nvPr/>
      </p:nvGrpSpPr>
      <p:grpSpPr>
        <a:xfrm>
          <a:off x="0" y="0"/>
          <a:ext cx="0" cy="0"/>
          <a:chOff x="0" y="0"/>
          <a:chExt cx="0" cy="0"/>
        </a:xfrm>
      </p:grpSpPr>
      <p:pic>
        <p:nvPicPr>
          <p:cNvPr id="195" name="Google Shape;195;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6" name="Google Shape;196;p23" descr="image.png"/>
          <p:cNvPicPr preferRelativeResize="0"/>
          <p:nvPr/>
        </p:nvPicPr>
        <p:blipFill rotWithShape="1">
          <a:blip r:embed="rId4">
            <a:alphaModFix/>
          </a:blip>
          <a:srcRect/>
          <a:stretch/>
        </p:blipFill>
        <p:spPr>
          <a:xfrm>
            <a:off x="581025" y="1543050"/>
            <a:ext cx="11029950" cy="4733925"/>
          </a:xfrm>
          <a:prstGeom prst="rect">
            <a:avLst/>
          </a:prstGeom>
          <a:noFill/>
          <a:ln>
            <a:noFill/>
          </a:ln>
        </p:spPr>
      </p:pic>
      <p:sp>
        <p:nvSpPr>
          <p:cNvPr id="197" name="Google Shape;197;p23"/>
          <p:cNvSpPr txBox="1"/>
          <p:nvPr/>
        </p:nvSpPr>
        <p:spPr>
          <a:xfrm>
            <a:off x="581025" y="581025"/>
            <a:ext cx="11581447"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293B"/>
                </a:solidFill>
                <a:latin typeface="Inter"/>
                <a:ea typeface="Inter"/>
                <a:cs typeface="Inter"/>
                <a:sym typeface="Inter"/>
              </a:rPr>
              <a:t>Phase 3: Classification Logic</a:t>
            </a:r>
            <a:endParaRPr/>
          </a:p>
        </p:txBody>
      </p:sp>
      <p:sp>
        <p:nvSpPr>
          <p:cNvPr id="198" name="Google Shape;198;p23"/>
          <p:cNvSpPr/>
          <p:nvPr/>
        </p:nvSpPr>
        <p:spPr>
          <a:xfrm>
            <a:off x="581025" y="1143000"/>
            <a:ext cx="110299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pic>
        <p:nvPicPr>
          <p:cNvPr id="203" name="Google Shape;203;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4" name="Google Shape;204;p24"/>
          <p:cNvSpPr txBox="1"/>
          <p:nvPr/>
        </p:nvSpPr>
        <p:spPr>
          <a:xfrm>
            <a:off x="581025" y="1935509"/>
            <a:ext cx="110299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Inter"/>
                <a:ea typeface="Inter"/>
                <a:cs typeface="Inter"/>
                <a:sym typeface="Inter"/>
              </a:rPr>
              <a:t>The pipeline automatically generates a highly granular, deduplicated export file for researchers to analyze specific occupational impacts.</a:t>
            </a:r>
            <a:endParaRPr/>
          </a:p>
        </p:txBody>
      </p:sp>
      <p:graphicFrame>
        <p:nvGraphicFramePr>
          <p:cNvPr id="205" name="Google Shape;205;p24"/>
          <p:cNvGraphicFramePr/>
          <p:nvPr/>
        </p:nvGraphicFramePr>
        <p:xfrm>
          <a:off x="581025" y="2722215"/>
          <a:ext cx="11020425" cy="3333625"/>
        </p:xfrm>
        <a:graphic>
          <a:graphicData uri="http://schemas.openxmlformats.org/drawingml/2006/table">
            <a:tbl>
              <a:tblPr firstRow="1" bandRow="1">
                <a:noFill/>
                <a:tableStyleId>{46A2E85D-D8B6-45F0-92B8-3C5BC7F3C4A1}</a:tableStyleId>
              </a:tblPr>
              <a:tblGrid>
                <a:gridCol w="2175575">
                  <a:extLst>
                    <a:ext uri="{9D8B030D-6E8A-4147-A177-3AD203B41FA5}">
                      <a16:colId xmlns:a16="http://schemas.microsoft.com/office/drawing/2014/main" val="20000"/>
                    </a:ext>
                  </a:extLst>
                </a:gridCol>
                <a:gridCol w="1152825">
                  <a:extLst>
                    <a:ext uri="{9D8B030D-6E8A-4147-A177-3AD203B41FA5}">
                      <a16:colId xmlns:a16="http://schemas.microsoft.com/office/drawing/2014/main" val="20001"/>
                    </a:ext>
                  </a:extLst>
                </a:gridCol>
                <a:gridCol w="3223025">
                  <a:extLst>
                    <a:ext uri="{9D8B030D-6E8A-4147-A177-3AD203B41FA5}">
                      <a16:colId xmlns:a16="http://schemas.microsoft.com/office/drawing/2014/main" val="20002"/>
                    </a:ext>
                  </a:extLst>
                </a:gridCol>
                <a:gridCol w="2380050">
                  <a:extLst>
                    <a:ext uri="{9D8B030D-6E8A-4147-A177-3AD203B41FA5}">
                      <a16:colId xmlns:a16="http://schemas.microsoft.com/office/drawing/2014/main" val="20003"/>
                    </a:ext>
                  </a:extLst>
                </a:gridCol>
                <a:gridCol w="2088950">
                  <a:extLst>
                    <a:ext uri="{9D8B030D-6E8A-4147-A177-3AD203B41FA5}">
                      <a16:colId xmlns:a16="http://schemas.microsoft.com/office/drawing/2014/main" val="20004"/>
                    </a:ext>
                  </a:extLst>
                </a:gridCol>
              </a:tblGrid>
              <a:tr h="666725">
                <a:tc>
                  <a:txBody>
                    <a:bodyPr/>
                    <a:lstStyle/>
                    <a:p>
                      <a:pPr marL="0" marR="0" lvl="0" indent="0" algn="l" rtl="0">
                        <a:spcBef>
                          <a:spcPts val="0"/>
                        </a:spcBef>
                        <a:spcAft>
                          <a:spcPts val="0"/>
                        </a:spcAft>
                        <a:buNone/>
                      </a:pPr>
                      <a:r>
                        <a:rPr lang="en-US" sz="1350" b="1" i="0" u="none" strike="noStrike" cap="none">
                          <a:solidFill>
                            <a:srgbClr val="0F172A"/>
                          </a:solidFill>
                          <a:latin typeface="Inter"/>
                          <a:ea typeface="Inter"/>
                          <a:cs typeface="Inter"/>
                          <a:sym typeface="Inter"/>
                        </a:rPr>
                        <a:t>Job 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350" b="1" i="0" u="none" strike="noStrike" cap="none">
                          <a:solidFill>
                            <a:srgbClr val="0F172A"/>
                          </a:solidFill>
                          <a:latin typeface="Inter"/>
                          <a:ea typeface="Inter"/>
                          <a:cs typeface="Inter"/>
                          <a:sym typeface="Inter"/>
                        </a:rPr>
                        <a:t>Year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350" b="1" i="0" u="none" strike="noStrike" cap="none">
                          <a:solidFill>
                            <a:srgbClr val="0F172A"/>
                          </a:solidFill>
                          <a:latin typeface="Inter"/>
                          <a:ea typeface="Inter"/>
                          <a:cs typeface="Inter"/>
                          <a:sym typeface="Inter"/>
                        </a:rPr>
                        <a:t>SOC Code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350" b="1" i="0" u="none" strike="noStrike" cap="none">
                          <a:solidFill>
                            <a:srgbClr val="0F172A"/>
                          </a:solidFill>
                          <a:latin typeface="Inter"/>
                          <a:ea typeface="Inter"/>
                          <a:cs typeface="Inter"/>
                          <a:sym typeface="Inter"/>
                        </a:rPr>
                        <a:t>Dictionary Hits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350" b="1" i="0" u="none" strike="noStrike" cap="none">
                          <a:solidFill>
                            <a:srgbClr val="0F172A"/>
                          </a:solidFill>
                          <a:latin typeface="Inter"/>
                          <a:ea typeface="Inter"/>
                          <a:cs typeface="Inter"/>
                          <a:sym typeface="Inter"/>
                        </a:rPr>
                        <a:t>Classification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666725">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BGT-10928475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2023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3541 (Procurement Mgr)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4 Unique Terms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1" i="0" u="none" strike="noStrike" cap="none">
                          <a:solidFill>
                            <a:srgbClr val="059669"/>
                          </a:solidFill>
                          <a:latin typeface="Inter"/>
                          <a:ea typeface="Inter"/>
                          <a:cs typeface="Inter"/>
                          <a:sym typeface="Inter"/>
                        </a:rPr>
                        <a:t>GREEN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66725">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BGT-22839401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2023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2142 (Environment Prof)</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12 Unique Terms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1" i="0" u="none" strike="noStrike" cap="none">
                          <a:solidFill>
                            <a:srgbClr val="059669"/>
                          </a:solidFill>
                          <a:latin typeface="Inter"/>
                          <a:ea typeface="Inter"/>
                          <a:cs typeface="Inter"/>
                          <a:sym typeface="Inter"/>
                        </a:rPr>
                        <a:t>GREEN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666725">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BGT-55910293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2024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8133 (Warehouse Sup)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1 Unique Term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64748B"/>
                          </a:solidFill>
                          <a:latin typeface="Inter"/>
                          <a:ea typeface="Inter"/>
                          <a:cs typeface="Inter"/>
                          <a:sym typeface="Inter"/>
                        </a:rPr>
                        <a:t>Non-Green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66725">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BGT-88492011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2024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2129 (Engineering Prof)</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Inter"/>
                          <a:ea typeface="Inter"/>
                          <a:cs typeface="Inter"/>
                          <a:sym typeface="Inter"/>
                        </a:rPr>
                        <a:t>5 Unique Terms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1" i="0" u="none" strike="noStrike" cap="none">
                          <a:solidFill>
                            <a:srgbClr val="059669"/>
                          </a:solidFill>
                          <a:latin typeface="Inter"/>
                          <a:ea typeface="Inter"/>
                          <a:cs typeface="Inter"/>
                          <a:sym typeface="Inter"/>
                        </a:rPr>
                        <a:t>GREEN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
        <p:nvSpPr>
          <p:cNvPr id="206" name="Google Shape;206;p24"/>
          <p:cNvSpPr/>
          <p:nvPr/>
        </p:nvSpPr>
        <p:spPr>
          <a:xfrm>
            <a:off x="585787" y="3382267"/>
            <a:ext cx="2175569"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24"/>
          <p:cNvSpPr/>
          <p:nvPr/>
        </p:nvSpPr>
        <p:spPr>
          <a:xfrm>
            <a:off x="2761357" y="3382267"/>
            <a:ext cx="1152822"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24"/>
          <p:cNvSpPr/>
          <p:nvPr/>
        </p:nvSpPr>
        <p:spPr>
          <a:xfrm>
            <a:off x="3914179" y="3382267"/>
            <a:ext cx="322302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4"/>
          <p:cNvSpPr/>
          <p:nvPr/>
        </p:nvSpPr>
        <p:spPr>
          <a:xfrm>
            <a:off x="7137201" y="3382267"/>
            <a:ext cx="2380059"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p24"/>
          <p:cNvSpPr/>
          <p:nvPr/>
        </p:nvSpPr>
        <p:spPr>
          <a:xfrm>
            <a:off x="9517260" y="3382267"/>
            <a:ext cx="208895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4"/>
          <p:cNvSpPr/>
          <p:nvPr/>
        </p:nvSpPr>
        <p:spPr>
          <a:xfrm>
            <a:off x="585787" y="4047083"/>
            <a:ext cx="2175569"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2" name="Google Shape;212;p24"/>
          <p:cNvSpPr/>
          <p:nvPr/>
        </p:nvSpPr>
        <p:spPr>
          <a:xfrm>
            <a:off x="2761357" y="4047083"/>
            <a:ext cx="1152822"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4"/>
          <p:cNvSpPr/>
          <p:nvPr/>
        </p:nvSpPr>
        <p:spPr>
          <a:xfrm>
            <a:off x="3914179" y="4047083"/>
            <a:ext cx="322302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4" name="Google Shape;214;p24"/>
          <p:cNvSpPr/>
          <p:nvPr/>
        </p:nvSpPr>
        <p:spPr>
          <a:xfrm>
            <a:off x="7137201" y="4047083"/>
            <a:ext cx="2380059"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24"/>
          <p:cNvSpPr/>
          <p:nvPr/>
        </p:nvSpPr>
        <p:spPr>
          <a:xfrm>
            <a:off x="9517260" y="4047083"/>
            <a:ext cx="208895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4"/>
          <p:cNvSpPr/>
          <p:nvPr/>
        </p:nvSpPr>
        <p:spPr>
          <a:xfrm>
            <a:off x="585787" y="4711898"/>
            <a:ext cx="2175569"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4"/>
          <p:cNvSpPr/>
          <p:nvPr/>
        </p:nvSpPr>
        <p:spPr>
          <a:xfrm>
            <a:off x="2761357" y="4711898"/>
            <a:ext cx="1152822"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24"/>
          <p:cNvSpPr/>
          <p:nvPr/>
        </p:nvSpPr>
        <p:spPr>
          <a:xfrm>
            <a:off x="3914179" y="4711898"/>
            <a:ext cx="322302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9" name="Google Shape;219;p24"/>
          <p:cNvSpPr/>
          <p:nvPr/>
        </p:nvSpPr>
        <p:spPr>
          <a:xfrm>
            <a:off x="7137201" y="4711898"/>
            <a:ext cx="2380059"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24"/>
          <p:cNvSpPr/>
          <p:nvPr/>
        </p:nvSpPr>
        <p:spPr>
          <a:xfrm>
            <a:off x="9517260" y="4711898"/>
            <a:ext cx="208895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1" name="Google Shape;221;p24"/>
          <p:cNvSpPr/>
          <p:nvPr/>
        </p:nvSpPr>
        <p:spPr>
          <a:xfrm>
            <a:off x="585787" y="5376713"/>
            <a:ext cx="2175569"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24"/>
          <p:cNvSpPr/>
          <p:nvPr/>
        </p:nvSpPr>
        <p:spPr>
          <a:xfrm>
            <a:off x="2761357" y="5376713"/>
            <a:ext cx="1152822"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3" name="Google Shape;223;p24"/>
          <p:cNvSpPr/>
          <p:nvPr/>
        </p:nvSpPr>
        <p:spPr>
          <a:xfrm>
            <a:off x="3914179" y="5376713"/>
            <a:ext cx="322302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24"/>
          <p:cNvSpPr/>
          <p:nvPr/>
        </p:nvSpPr>
        <p:spPr>
          <a:xfrm>
            <a:off x="7137201" y="5376713"/>
            <a:ext cx="2380059"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5" name="Google Shape;225;p24"/>
          <p:cNvSpPr/>
          <p:nvPr/>
        </p:nvSpPr>
        <p:spPr>
          <a:xfrm>
            <a:off x="9517260" y="5376713"/>
            <a:ext cx="208895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24"/>
          <p:cNvSpPr/>
          <p:nvPr/>
        </p:nvSpPr>
        <p:spPr>
          <a:xfrm>
            <a:off x="585787" y="6041528"/>
            <a:ext cx="2175569"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24"/>
          <p:cNvSpPr/>
          <p:nvPr/>
        </p:nvSpPr>
        <p:spPr>
          <a:xfrm>
            <a:off x="2761357" y="6041528"/>
            <a:ext cx="1152822"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24"/>
          <p:cNvSpPr/>
          <p:nvPr/>
        </p:nvSpPr>
        <p:spPr>
          <a:xfrm>
            <a:off x="3914179" y="6041528"/>
            <a:ext cx="322302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9" name="Google Shape;229;p24"/>
          <p:cNvSpPr/>
          <p:nvPr/>
        </p:nvSpPr>
        <p:spPr>
          <a:xfrm>
            <a:off x="7137201" y="6041528"/>
            <a:ext cx="2380059"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0" name="Google Shape;230;p24"/>
          <p:cNvSpPr/>
          <p:nvPr/>
        </p:nvSpPr>
        <p:spPr>
          <a:xfrm>
            <a:off x="9517260" y="6041528"/>
            <a:ext cx="2088951"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1" name="Google Shape;231;p24"/>
          <p:cNvSpPr txBox="1"/>
          <p:nvPr/>
        </p:nvSpPr>
        <p:spPr>
          <a:xfrm>
            <a:off x="581025" y="581025"/>
            <a:ext cx="11581447"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293B"/>
                </a:solidFill>
                <a:latin typeface="Inter"/>
                <a:ea typeface="Inter"/>
                <a:cs typeface="Inter"/>
                <a:sym typeface="Inter"/>
              </a:rPr>
              <a:t>Final Output: Job-Level Export</a:t>
            </a:r>
            <a:endParaRPr/>
          </a:p>
        </p:txBody>
      </p:sp>
      <p:sp>
        <p:nvSpPr>
          <p:cNvPr id="232" name="Google Shape;232;p24"/>
          <p:cNvSpPr/>
          <p:nvPr/>
        </p:nvSpPr>
        <p:spPr>
          <a:xfrm>
            <a:off x="581025" y="1143000"/>
            <a:ext cx="110299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466</Words>
  <Application>Microsoft Macintosh PowerPoint</Application>
  <PresentationFormat>Widescreen</PresentationFormat>
  <Paragraphs>66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Inter</vt:lpstr>
      <vt:lpstr>Inter SemiBold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Saurabh Kumar</cp:lastModifiedBy>
  <cp:revision>1</cp:revision>
  <dcterms:modified xsi:type="dcterms:W3CDTF">2026-03-26T10:36:04Z</dcterms:modified>
</cp:coreProperties>
</file>