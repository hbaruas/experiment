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Quattrocento Sans" panose="020B0502050000020003" pitchFamily="3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3CBB3B-F8CC-4496-9602-C53763179573}">
  <a:tblStyle styleId="{803CBB3B-F8CC-4496-9602-C5376317957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36809"/>
  </p:normalViewPr>
  <p:slideViewPr>
    <p:cSldViewPr snapToGrid="0">
      <p:cViewPr varScale="1">
        <p:scale>
          <a:sx n="40" d="100"/>
          <a:sy n="40" d="100"/>
        </p:scale>
        <p:origin x="3256"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400" dirty="0">
                <a:highlight>
                  <a:srgbClr val="F2F0F0"/>
                </a:highlight>
              </a:rPr>
              <a:t>Okay so I’m presenting six years of UK business-to-business payment data—actual electronic transactions covering £25.3 trillion across 84 months, from January 2019 to December 2025.</a:t>
            </a:r>
          </a:p>
          <a:p>
            <a:pPr marL="158750" indent="0" algn="l">
              <a:buNone/>
            </a:pPr>
            <a:r>
              <a:rPr lang="en-US" sz="1400" dirty="0">
                <a:highlight>
                  <a:srgbClr val="F2F0F0"/>
                </a:highlight>
              </a:rPr>
              <a:t>Over the next 15 minutes, I’ll show you what this dataset reveals at the aggregate and regional levels, how its supply-chain network mirrors official Input-Output tables, and a September 2025 case study demonstrating its value as a real-time economic signal. I’ll close with five strategic questions on how the ONS might leverage this resource. Let’s start with what’s in the data. [ADVANCE]</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400" dirty="0">
                <a:highlight>
                  <a:srgbClr val="F2F0F0"/>
                </a:highlight>
              </a:rPr>
              <a:t>The data comes from Bacs and Faster Payments—covering large batch invoices, salaries, and instant transfers.</a:t>
            </a:r>
          </a:p>
          <a:p>
            <a:pPr marL="158750" indent="0">
              <a:buNone/>
            </a:pPr>
            <a:r>
              <a:rPr lang="en-US" sz="1400" dirty="0">
                <a:highlight>
                  <a:srgbClr val="F2F0F0"/>
                </a:highlight>
              </a:rPr>
              <a:t>Each row maps which SIC-2 industry paid which other, in which ITL-1 region, in which month, alongside total value and transaction volume. The raw dataset sits at 2.1 gigabytes across 47 million rows, covering 88 SIC-2 industries and 12 ITL-1 regions.</a:t>
            </a:r>
          </a:p>
          <a:p>
            <a:pPr marL="158750" indent="0">
              <a:buNone/>
            </a:pPr>
            <a:r>
              <a:rPr lang="en-US" sz="1400" dirty="0">
                <a:highlight>
                  <a:srgbClr val="F2F0F0"/>
                </a:highlight>
              </a:rPr>
              <a:t>Crucially, 52% of total payment value has a payer with no resolvable ITL-1 region, classified as Pan-UK or Unknown. Accounting for payee regions, only about 26% of total value sits in the clean "known-to-known" regional space. This is not a data quality failure—it is the structural footprint of nationally active firms like banks, supermarkets, and telecoms. [ADVANCE]</a:t>
            </a: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Aggregating total monthly payments produces our Payment Flow Index (PFI), benchmarked to January 2019 at 100.</a:t>
            </a:r>
          </a:p>
          <a:p>
            <a:pPr marL="158750" indent="0">
              <a:buNone/>
            </a:pPr>
            <a:r>
              <a:rPr lang="en-US" dirty="0"/>
              <a:t>The series clearly tracks major macro trends: the May 2020 lockdown trough hit 81.8 before recovering. By December 2025, the index reached 150.4, representing an annual payment value growth from £3.18 trillion in 2019 to £4.34 trillion in 2025.</a:t>
            </a:r>
          </a:p>
          <a:p>
            <a:pPr marL="158750" indent="0">
              <a:buNone/>
            </a:pPr>
            <a:r>
              <a:rPr lang="en-US" dirty="0"/>
              <a:t>The core analytical value here is timing. While ONS Monthly GDP takes roughly 45 days to publish, PFI data is available within days of month-end, offering an early directional indicator long before official statistics arrive. [ADVANCE]</a:t>
            </a:r>
          </a:p>
          <a:p>
            <a:pPr marL="0" lvl="0" indent="0" algn="l" rtl="0">
              <a:spcBef>
                <a:spcPts val="0"/>
              </a:spcBef>
              <a:spcAft>
                <a:spcPts val="0"/>
              </a:spcAft>
              <a:buNone/>
            </a:pPr>
            <a:endParaRPr dirty="0"/>
          </a:p>
        </p:txBody>
      </p:sp>
      <p:sp>
        <p:nvSpPr>
          <p:cNvPr id="126" name="Google Shape;12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Geographically, London dominates: in 2025, London-registered firms initiated 42.6% of known-region payment value and received 37.5%. This share has remained stable since 2019.</a:t>
            </a:r>
          </a:p>
          <a:p>
            <a:pPr marL="158750" indent="0">
              <a:buNone/>
            </a:pPr>
            <a:r>
              <a:rPr lang="en-US" dirty="0"/>
              <a:t>However, this reflects a "Headquarter Effect" rather than localized output. A national retailer registered in London routes all supplier payments from its registered address, despite operating nationwide.</a:t>
            </a:r>
          </a:p>
          <a:p>
            <a:pPr marL="158750" indent="0">
              <a:buNone/>
            </a:pPr>
            <a:r>
              <a:rPr lang="en-US" dirty="0"/>
              <a:t>Consequently, regional rankings primarily show where corporate HQs are registered. Sector-level analysis provides a significantly more reliable economic signal. [ADVANCE]</a:t>
            </a:r>
          </a:p>
          <a:p>
            <a:pPr marL="0" lvl="0" indent="0" algn="l" rtl="0">
              <a:spcBef>
                <a:spcPts val="0"/>
              </a:spcBef>
              <a:spcAft>
                <a:spcPts val="0"/>
              </a:spcAft>
              <a:buNone/>
            </a:pPr>
            <a:endParaRPr dirty="0"/>
          </a:p>
        </p:txBody>
      </p:sp>
      <p:sp>
        <p:nvSpPr>
          <p:cNvPr id="139" name="Google Shape;13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400" dirty="0">
                <a:highlight>
                  <a:srgbClr val="F2F0F0"/>
                </a:highlight>
              </a:rPr>
              <a:t>Mapping top payment partners highlights the core pillars of UK trade. Excluding unclassified payments, SIC 46 (Wholesale Trade) is the top external payment partner for 37 of the 88 industries, serving as the economy’s central distribution layer. SIC 64 (Financial Services) is second, leading for 17 industries.</a:t>
            </a:r>
          </a:p>
          <a:p>
            <a:pPr marL="158750" indent="0">
              <a:buNone/>
            </a:pPr>
            <a:r>
              <a:rPr lang="en-US" sz="1400" dirty="0">
                <a:highlight>
                  <a:srgbClr val="F2F0F0"/>
                </a:highlight>
              </a:rPr>
              <a:t>Additionally, 19 industries pay more within their own SIC-2 code than to external sectors, reflecting heavily subcontracted structures like Construction.</a:t>
            </a:r>
          </a:p>
          <a:p>
            <a:pPr marL="158750" indent="0">
              <a:buNone/>
            </a:pPr>
            <a:r>
              <a:rPr lang="en-US" sz="1400" dirty="0">
                <a:highlight>
                  <a:srgbClr val="F2F0F0"/>
                </a:highlight>
              </a:rPr>
              <a:t>Importantly, this payment-derived network closely mirrors published ONS Input-Output tables, validating transaction data as an accurate reflection of supply-chain relationships. [ADVANCE]</a:t>
            </a:r>
          </a:p>
        </p:txBody>
      </p:sp>
      <p:sp>
        <p:nvSpPr>
          <p:cNvPr id="157" name="Google Shape;15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r>
              <a:rPr lang="en-US" dirty="0"/>
              <a:t>Looking at within-region supply chains, Northern Ireland (58 industries) and London (53 industries) retain over 50% of their payment outflows locally. Note that Northern Ireland's high score partly reflects cross-border trade with the Republic of Ireland routed through UK payment rails.</a:t>
            </a:r>
          </a:p>
          <a:p>
            <a:pPr marL="158750" indent="0" algn="l">
              <a:buNone/>
            </a:pPr>
            <a:r>
              <a:rPr lang="en-US" dirty="0"/>
              <a:t>Conversely, the East Midlands has zero industries retaining over 50% locally. As a major logistics hub, its payment flows are inherently outward-facing.</a:t>
            </a:r>
          </a:p>
          <a:p>
            <a:pPr marL="158750" indent="0" algn="l">
              <a:buNone/>
            </a:pPr>
            <a:r>
              <a:rPr lang="en-US" dirty="0"/>
              <a:t>Meanwhile, Pan-UK firms primarily transact with each other, forming a distinct national network layer. [ADVANCE]</a:t>
            </a:r>
          </a:p>
          <a:p>
            <a:pPr marL="0" lvl="0" indent="0" algn="l" rtl="0">
              <a:spcBef>
                <a:spcPts val="0"/>
              </a:spcBef>
              <a:spcAft>
                <a:spcPts val="0"/>
              </a:spcAft>
              <a:buNone/>
            </a:pPr>
            <a:endParaRPr dirty="0"/>
          </a:p>
        </p:txBody>
      </p:sp>
      <p:sp>
        <p:nvSpPr>
          <p:cNvPr id="170" name="Google Shape;1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Here is the clearest case for real-time monitoring: September 2025, West Midlands motor vehicle manufacturing (SIC 29).</a:t>
            </a:r>
          </a:p>
          <a:p>
            <a:pPr marL="158750" indent="0">
              <a:buNone/>
            </a:pPr>
            <a:r>
              <a:rPr lang="en-US" dirty="0"/>
              <a:t>Outflows fell from £185 million in August to £75 million in September—a 59.8% single-month collapse. This drop was worse than the June 2020 lockdown floor (£91 million) and registered a Z-score of -2.37.</a:t>
            </a:r>
          </a:p>
          <a:p>
            <a:pPr marL="158750" indent="0">
              <a:buNone/>
            </a:pPr>
            <a:r>
              <a:rPr lang="en-US" dirty="0"/>
              <a:t>This anomaly was visible in payment data within days of September closing. Official ONS Monthly GDP estimates for September were published six weeks later in mid-November, confirming a 28.6% drop in output. Payment flows provided the exact same warning six weeks faster. [ADVANCE]</a:t>
            </a:r>
          </a:p>
          <a:p>
            <a:pPr marL="0" lvl="0" indent="0" algn="l" rtl="0">
              <a:spcBef>
                <a:spcPts val="0"/>
              </a:spcBef>
              <a:spcAft>
                <a:spcPts val="0"/>
              </a:spcAft>
              <a:buNone/>
            </a:pPr>
            <a:endParaRPr dirty="0"/>
          </a:p>
        </p:txBody>
      </p:sp>
      <p:sp>
        <p:nvSpPr>
          <p:cNvPr id="188" name="Google Shape;18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Granularity is essential for early warning systems.</a:t>
            </a:r>
          </a:p>
          <a:p>
            <a:pPr marL="158750" indent="0">
              <a:buNone/>
            </a:pPr>
            <a:r>
              <a:rPr lang="en-US" dirty="0"/>
              <a:t>At the SIC-2 level, the motor vehicle shock registered a clear -2.37 sigma anomaly. But when aggregated into Section C (All Manufacturing), the Z-score dropped to -0.02 sigma—statistically invisible. In fact, Section C’s index actually rose slightly due to stability in other manufacturing sub-sectors.</a:t>
            </a:r>
          </a:p>
          <a:p>
            <a:pPr marL="158750" indent="0">
              <a:buNone/>
            </a:pPr>
            <a:r>
              <a:rPr lang="en-US" dirty="0"/>
              <a:t>Section-level aggregation completely masks targeted shocks. To detect economic anomalies early, systems must operate at SIC-2 resolution or finer. [ADVANCE]</a:t>
            </a:r>
          </a:p>
          <a:p>
            <a:pPr marL="0" lvl="0" indent="0" algn="l" rtl="0">
              <a:spcBef>
                <a:spcPts val="0"/>
              </a:spcBef>
              <a:spcAft>
                <a:spcPts val="0"/>
              </a:spcAft>
              <a:buNone/>
            </a:pPr>
            <a:endParaRPr dirty="0"/>
          </a:p>
        </p:txBody>
      </p:sp>
      <p:sp>
        <p:nvSpPr>
          <p:cNvPr id="206" name="Google Shape;20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r>
              <a:rPr lang="en-US" dirty="0"/>
              <a:t>We can go even deeper using the SIC-5 layer. Inside SIC 29, code 29100 covers final vehicle assembly, while 29310 covers electronic components.</a:t>
            </a:r>
          </a:p>
          <a:p>
            <a:pPr marL="158750" indent="0" algn="l">
              <a:buNone/>
            </a:pPr>
            <a:r>
              <a:rPr lang="en-US" dirty="0"/>
              <a:t>The 1.3 GB SIC-5 dataset runs efficiently on </a:t>
            </a:r>
            <a:r>
              <a:rPr lang="en-US" dirty="0" err="1"/>
              <a:t>DuckDB</a:t>
            </a:r>
            <a:r>
              <a:rPr lang="en-US" dirty="0"/>
              <a:t> for fast querying. This extra resolution tells you </a:t>
            </a:r>
            <a:r>
              <a:rPr lang="en-US" i="1" dirty="0"/>
              <a:t>where</a:t>
            </a:r>
            <a:r>
              <a:rPr lang="en-US" dirty="0"/>
              <a:t> the break occurred: a collapse in assembly (29100) indicates delayed finished goods, whereas a drop in components (29310) indicates upstream bottlenecks.</a:t>
            </a:r>
          </a:p>
          <a:p>
            <a:pPr marL="158750" indent="0" algn="l">
              <a:buNone/>
            </a:pPr>
            <a:r>
              <a:rPr lang="en-US" dirty="0"/>
              <a:t>This level of detail enables far more precise policy and analytical responses. [ADVANCE</a:t>
            </a:r>
          </a:p>
          <a:p>
            <a:pPr marL="0" lvl="0" indent="0" algn="l" rtl="0">
              <a:spcBef>
                <a:spcPts val="0"/>
              </a:spcBef>
              <a:spcAft>
                <a:spcPts val="0"/>
              </a:spcAft>
              <a:buNone/>
            </a:pPr>
            <a:endParaRPr dirty="0"/>
          </a:p>
        </p:txBody>
      </p:sp>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r>
              <a:rPr lang="en-US" dirty="0"/>
              <a:t>Returning to our primary structural caveat: 52% of payment value belongs to Pan-UK payers, and only ~26% sits in the clean known-to-known regional space.</a:t>
            </a:r>
          </a:p>
          <a:p>
            <a:pPr marL="158750" indent="0" algn="l">
              <a:buNone/>
            </a:pPr>
            <a:r>
              <a:rPr lang="en-US" dirty="0"/>
              <a:t>Excluding Pan-UK data is not viable, as it removes the majority of banking, national retail, and infrastructure flows.</a:t>
            </a:r>
          </a:p>
          <a:p>
            <a:pPr marL="158750" indent="0" algn="l">
              <a:buNone/>
            </a:pPr>
            <a:r>
              <a:rPr lang="en-US" dirty="0"/>
              <a:t>However, ONS access to trading addresses via VAT or PAYE data could help re-attribute these corporate flows. Improving regional attribution represents a major high-value research opportunity. [ADVANCE]</a:t>
            </a:r>
          </a:p>
          <a:p>
            <a:pPr marL="0" lvl="0" indent="0" algn="l" rtl="0">
              <a:spcBef>
                <a:spcPts val="0"/>
              </a:spcBef>
              <a:spcAft>
                <a:spcPts val="0"/>
              </a:spcAft>
              <a:buNone/>
            </a:pPr>
            <a:endParaRPr dirty="0"/>
          </a:p>
        </p:txBody>
      </p:sp>
      <p:sp>
        <p:nvSpPr>
          <p:cNvPr id="233" name="Google Shape;23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r>
              <a:rPr lang="en-US" dirty="0"/>
              <a:t>We see three strategic development paths:</a:t>
            </a:r>
          </a:p>
          <a:p>
            <a:pPr marL="158750" lvl="0" indent="0" algn="l">
              <a:buNone/>
            </a:pPr>
            <a:r>
              <a:rPr lang="en-US" b="1" dirty="0"/>
              <a:t>Path A (Production Monitor):</a:t>
            </a:r>
            <a:r>
              <a:rPr lang="en-US" dirty="0"/>
              <a:t> An automated monthly dashboard flagging SIC-2 Z-score anomalies within days of month-end. Low effort, high immediacy.</a:t>
            </a:r>
          </a:p>
          <a:p>
            <a:pPr marL="158750" lvl="0" indent="0" algn="l">
              <a:buNone/>
            </a:pPr>
            <a:r>
              <a:rPr lang="en-US" b="1" dirty="0"/>
              <a:t>Path B (GDP Nowcast Composite):</a:t>
            </a:r>
            <a:r>
              <a:rPr lang="en-US" dirty="0"/>
              <a:t> Combining PFI data with the 7-day VAT diffusion index into a early directional composite indicator for Monthly GDP.</a:t>
            </a:r>
          </a:p>
          <a:p>
            <a:pPr marL="158750" lvl="0" indent="0" algn="l">
              <a:buNone/>
            </a:pPr>
            <a:r>
              <a:rPr lang="en-US" b="1" dirty="0"/>
              <a:t>Path C (Supply Chain Stress Test):</a:t>
            </a:r>
            <a:r>
              <a:rPr lang="en-US" dirty="0"/>
              <a:t> Using the network structure and SIC-5 data to model shock propagation and contagion across trade dependencies. [ADVANCE]</a:t>
            </a:r>
          </a:p>
          <a:p>
            <a:pPr marL="0" lvl="0" indent="0" algn="l" rtl="0">
              <a:spcBef>
                <a:spcPts val="0"/>
              </a:spcBef>
              <a:spcAft>
                <a:spcPts val="0"/>
              </a:spcAft>
              <a:buNone/>
            </a:pPr>
            <a:endParaRPr dirty="0"/>
          </a:p>
        </p:txBody>
      </p:sp>
      <p:sp>
        <p:nvSpPr>
          <p:cNvPr id="252" name="Google Shape;25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To wrap up, I’d value your perspective on five central questions:</a:t>
            </a:r>
          </a:p>
          <a:p>
            <a:pPr lvl="0"/>
            <a:r>
              <a:rPr lang="en-US" b="1" dirty="0"/>
              <a:t>Priority:</a:t>
            </a:r>
            <a:r>
              <a:rPr lang="en-US" dirty="0"/>
              <a:t> Is the primary goal nowcasting overall GDP direction, monitoring specific industry shocks—or both, at different publication horizons?</a:t>
            </a:r>
          </a:p>
          <a:p>
            <a:pPr lvl="0"/>
            <a:r>
              <a:rPr lang="en-US" b="1" dirty="0"/>
              <a:t>Regional attribution:</a:t>
            </a:r>
            <a:r>
              <a:rPr lang="en-US" dirty="0"/>
              <a:t> Does ONS intend to improve attribution beyond Companies House registration, and is there a timeline?</a:t>
            </a:r>
          </a:p>
          <a:p>
            <a:pPr lvl="0"/>
            <a:r>
              <a:rPr lang="en-US" b="1" dirty="0"/>
              <a:t>Publication bar:</a:t>
            </a:r>
            <a:r>
              <a:rPr lang="en-US" dirty="0"/>
              <a:t> Is there appetite for an experimental statistic from this data—and what validation standard would it need to meet?</a:t>
            </a:r>
          </a:p>
          <a:p>
            <a:pPr lvl="0"/>
            <a:r>
              <a:rPr lang="en-US" b="1" dirty="0"/>
              <a:t>Integration:</a:t>
            </a:r>
            <a:r>
              <a:rPr lang="en-US" dirty="0"/>
              <a:t> Should this sit alongside existing real-time indicators (7-day VAT, CHAPS), or remain a standalone research strand?</a:t>
            </a:r>
          </a:p>
          <a:p>
            <a:pPr lvl="0"/>
            <a:r>
              <a:rPr lang="en-US" b="1" dirty="0"/>
              <a:t>Targeted use cases:</a:t>
            </a:r>
            <a:r>
              <a:rPr lang="en-US" dirty="0"/>
              <a:t> Are there specific industries or regions where the GDP team already has a need for a faster signal?</a:t>
            </a:r>
          </a:p>
          <a:p>
            <a:pPr marL="0" lvl="0" indent="0" algn="l" rtl="0">
              <a:spcBef>
                <a:spcPts val="0"/>
              </a:spcBef>
              <a:spcAft>
                <a:spcPts val="0"/>
              </a:spcAft>
              <a:buNone/>
            </a:pPr>
            <a:endParaRPr dirty="0"/>
          </a:p>
        </p:txBody>
      </p:sp>
      <p:sp>
        <p:nvSpPr>
          <p:cNvPr id="260" name="Google Shape;26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1095375" y="1526976"/>
            <a:ext cx="10001250" cy="2051446"/>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1095375" y="5064323"/>
            <a:ext cx="10001250" cy="266700"/>
          </a:xfrm>
          <a:prstGeom prst="rect">
            <a:avLst/>
          </a:prstGeom>
          <a:noFill/>
          <a:ln>
            <a:noFill/>
          </a:ln>
        </p:spPr>
      </p:pic>
      <p:graphicFrame>
        <p:nvGraphicFramePr>
          <p:cNvPr id="86" name="Google Shape;86;p13"/>
          <p:cNvGraphicFramePr/>
          <p:nvPr/>
        </p:nvGraphicFramePr>
        <p:xfrm>
          <a:off x="1095375" y="3959423"/>
          <a:ext cx="9991725" cy="838200"/>
        </p:xfrm>
        <a:graphic>
          <a:graphicData uri="http://schemas.openxmlformats.org/drawingml/2006/table">
            <a:tbl>
              <a:tblPr firstRow="1" bandRow="1">
                <a:noFill/>
                <a:tableStyleId>{803CBB3B-F8CC-4496-9602-C53763179573}</a:tableStyleId>
              </a:tblPr>
              <a:tblGrid>
                <a:gridCol w="2666250">
                  <a:extLst>
                    <a:ext uri="{9D8B030D-6E8A-4147-A177-3AD203B41FA5}">
                      <a16:colId xmlns:a16="http://schemas.microsoft.com/office/drawing/2014/main" val="20000"/>
                    </a:ext>
                  </a:extLst>
                </a:gridCol>
                <a:gridCol w="2458200">
                  <a:extLst>
                    <a:ext uri="{9D8B030D-6E8A-4147-A177-3AD203B41FA5}">
                      <a16:colId xmlns:a16="http://schemas.microsoft.com/office/drawing/2014/main" val="20001"/>
                    </a:ext>
                  </a:extLst>
                </a:gridCol>
                <a:gridCol w="1716875">
                  <a:extLst>
                    <a:ext uri="{9D8B030D-6E8A-4147-A177-3AD203B41FA5}">
                      <a16:colId xmlns:a16="http://schemas.microsoft.com/office/drawing/2014/main" val="20002"/>
                    </a:ext>
                  </a:extLst>
                </a:gridCol>
                <a:gridCol w="3150400">
                  <a:extLst>
                    <a:ext uri="{9D8B030D-6E8A-4147-A177-3AD203B41FA5}">
                      <a16:colId xmlns:a16="http://schemas.microsoft.com/office/drawing/2014/main" val="20003"/>
                    </a:ext>
                  </a:extLst>
                </a:gridCol>
              </a:tblGrid>
              <a:tr h="419100">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Data Source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Time Coverage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Total Value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Observations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extLst>
                  <a:ext uri="{0D108BD9-81ED-4DB2-BD59-A6C34878D82A}">
                    <a16:rowId xmlns:a16="http://schemas.microsoft.com/office/drawing/2014/main" val="10000"/>
                  </a:ext>
                </a:extLst>
              </a:tr>
              <a:tr h="41910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Bacs + FPS via Nomis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Jan 2019 – Dec 2025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£25.3 Trillion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84 Months (88 SIC-2 Codes)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87" name="Google Shape;87;p13"/>
          <p:cNvSpPr txBox="1"/>
          <p:nvPr/>
        </p:nvSpPr>
        <p:spPr>
          <a:xfrm>
            <a:off x="1514475" y="1869876"/>
            <a:ext cx="9621202" cy="959941"/>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en-US" sz="3150" b="1" i="0" u="none" strike="noStrike" cap="none">
                <a:solidFill>
                  <a:srgbClr val="FFFFFF"/>
                </a:solidFill>
                <a:latin typeface="Quattrocento Sans"/>
                <a:ea typeface="Quattrocento Sans"/>
                <a:cs typeface="Quattrocento Sans"/>
                <a:sym typeface="Quattrocento Sans"/>
              </a:rPr>
              <a:t>Industry-to-Industry Payment Flows</a:t>
            </a:r>
            <a:br>
              <a:rPr lang="en-US" sz="1800" b="0" i="0" u="none" strike="noStrike" cap="none">
                <a:solidFill>
                  <a:schemeClr val="dk1"/>
                </a:solidFill>
                <a:latin typeface="Calibri"/>
                <a:ea typeface="Calibri"/>
                <a:cs typeface="Calibri"/>
                <a:sym typeface="Calibri"/>
              </a:rPr>
            </a:br>
            <a:r>
              <a:rPr lang="en-US" sz="3150" b="1" i="0" u="none" strike="noStrike" cap="none">
                <a:solidFill>
                  <a:srgbClr val="FFFFFF"/>
                </a:solidFill>
                <a:latin typeface="Quattrocento Sans"/>
                <a:ea typeface="Quattrocento Sans"/>
                <a:cs typeface="Quattrocento Sans"/>
                <a:sym typeface="Quattrocento Sans"/>
              </a:rPr>
              <a:t> as an Economic Signal</a:t>
            </a:r>
            <a:endParaRPr/>
          </a:p>
        </p:txBody>
      </p:sp>
      <p:sp>
        <p:nvSpPr>
          <p:cNvPr id="88" name="Google Shape;88;p13"/>
          <p:cNvSpPr txBox="1"/>
          <p:nvPr/>
        </p:nvSpPr>
        <p:spPr>
          <a:xfrm>
            <a:off x="1514475" y="2982217"/>
            <a:ext cx="9163050" cy="2533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25" b="0" i="0" u="none" strike="noStrike" cap="none">
                <a:solidFill>
                  <a:srgbClr val="D9E1F2"/>
                </a:solidFill>
                <a:latin typeface="Quattrocento Sans"/>
                <a:ea typeface="Quattrocento Sans"/>
                <a:cs typeface="Quattrocento Sans"/>
                <a:sym typeface="Quattrocento Sans"/>
              </a:rPr>
              <a:t>What six years of UK transaction data reveal about production, connectivity, and the limits of regional attribution</a:t>
            </a:r>
            <a:endParaRPr/>
          </a:p>
        </p:txBody>
      </p:sp>
      <p:pic>
        <p:nvPicPr>
          <p:cNvPr id="89" name="Google Shape;89;p13" descr="image.png"/>
          <p:cNvPicPr preferRelativeResize="0"/>
          <p:nvPr/>
        </p:nvPicPr>
        <p:blipFill rotWithShape="1">
          <a:blip r:embed="rId5">
            <a:alphaModFix/>
          </a:blip>
          <a:srcRect/>
          <a:stretch/>
        </p:blipFill>
        <p:spPr>
          <a:xfrm>
            <a:off x="10629602" y="6553200"/>
            <a:ext cx="85725" cy="114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523875" y="2248346"/>
            <a:ext cx="2643187" cy="771525"/>
          </a:xfrm>
          <a:prstGeom prst="rect">
            <a:avLst/>
          </a:prstGeom>
          <a:noFill/>
          <a:ln>
            <a:noFill/>
          </a:ln>
        </p:spPr>
      </p:pic>
      <p:pic>
        <p:nvPicPr>
          <p:cNvPr id="95" name="Google Shape;95;p14" descr="image.png"/>
          <p:cNvPicPr preferRelativeResize="0"/>
          <p:nvPr/>
        </p:nvPicPr>
        <p:blipFill rotWithShape="1">
          <a:blip r:embed="rId3">
            <a:alphaModFix/>
          </a:blip>
          <a:srcRect/>
          <a:stretch/>
        </p:blipFill>
        <p:spPr>
          <a:xfrm>
            <a:off x="3357562" y="2248346"/>
            <a:ext cx="2643187" cy="771525"/>
          </a:xfrm>
          <a:prstGeom prst="rect">
            <a:avLst/>
          </a:prstGeom>
          <a:noFill/>
          <a:ln>
            <a:noFill/>
          </a:ln>
        </p:spPr>
      </p:pic>
      <p:pic>
        <p:nvPicPr>
          <p:cNvPr id="96" name="Google Shape;96;p14" descr="image.png"/>
          <p:cNvPicPr preferRelativeResize="0"/>
          <p:nvPr/>
        </p:nvPicPr>
        <p:blipFill rotWithShape="1">
          <a:blip r:embed="rId3">
            <a:alphaModFix/>
          </a:blip>
          <a:srcRect/>
          <a:stretch/>
        </p:blipFill>
        <p:spPr>
          <a:xfrm>
            <a:off x="6191250" y="2248346"/>
            <a:ext cx="2643187" cy="771525"/>
          </a:xfrm>
          <a:prstGeom prst="rect">
            <a:avLst/>
          </a:prstGeom>
          <a:noFill/>
          <a:ln>
            <a:noFill/>
          </a:ln>
        </p:spPr>
      </p:pic>
      <p:pic>
        <p:nvPicPr>
          <p:cNvPr id="97" name="Google Shape;97;p14" descr="image.png"/>
          <p:cNvPicPr preferRelativeResize="0"/>
          <p:nvPr/>
        </p:nvPicPr>
        <p:blipFill rotWithShape="1">
          <a:blip r:embed="rId3">
            <a:alphaModFix/>
          </a:blip>
          <a:srcRect/>
          <a:stretch/>
        </p:blipFill>
        <p:spPr>
          <a:xfrm>
            <a:off x="9024937" y="2248346"/>
            <a:ext cx="2643187" cy="771525"/>
          </a:xfrm>
          <a:prstGeom prst="rect">
            <a:avLst/>
          </a:prstGeom>
          <a:noFill/>
          <a:ln>
            <a:noFill/>
          </a:ln>
        </p:spPr>
      </p:pic>
      <p:pic>
        <p:nvPicPr>
          <p:cNvPr id="98" name="Google Shape;98;p14" descr="image.png"/>
          <p:cNvPicPr preferRelativeResize="0"/>
          <p:nvPr/>
        </p:nvPicPr>
        <p:blipFill rotWithShape="1">
          <a:blip r:embed="rId4">
            <a:alphaModFix/>
          </a:blip>
          <a:srcRect/>
          <a:stretch/>
        </p:blipFill>
        <p:spPr>
          <a:xfrm>
            <a:off x="6248400" y="3359199"/>
            <a:ext cx="5419725" cy="1821656"/>
          </a:xfrm>
          <a:prstGeom prst="rect">
            <a:avLst/>
          </a:prstGeom>
          <a:noFill/>
          <a:ln>
            <a:noFill/>
          </a:ln>
        </p:spPr>
      </p:pic>
      <p:pic>
        <p:nvPicPr>
          <p:cNvPr id="99" name="Google Shape;99;p14" descr="image.png"/>
          <p:cNvPicPr preferRelativeResize="0"/>
          <p:nvPr/>
        </p:nvPicPr>
        <p:blipFill rotWithShape="1">
          <a:blip r:embed="rId5">
            <a:alphaModFix/>
          </a:blip>
          <a:srcRect/>
          <a:stretch/>
        </p:blipFill>
        <p:spPr>
          <a:xfrm>
            <a:off x="10629602" y="6553200"/>
            <a:ext cx="85725" cy="114300"/>
          </a:xfrm>
          <a:prstGeom prst="rect">
            <a:avLst/>
          </a:prstGeom>
          <a:noFill/>
          <a:ln>
            <a:noFill/>
          </a:ln>
        </p:spPr>
      </p:pic>
      <p:sp>
        <p:nvSpPr>
          <p:cNvPr id="100" name="Google Shape;100;p14"/>
          <p:cNvSpPr txBox="1"/>
          <p:nvPr/>
        </p:nvSpPr>
        <p:spPr>
          <a:xfrm>
            <a:off x="704850" y="2419796"/>
            <a:ext cx="2281237"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£25.3 Tn</a:t>
            </a:r>
            <a:endParaRPr/>
          </a:p>
        </p:txBody>
      </p:sp>
      <p:sp>
        <p:nvSpPr>
          <p:cNvPr id="101" name="Google Shape;101;p14"/>
          <p:cNvSpPr txBox="1"/>
          <p:nvPr/>
        </p:nvSpPr>
        <p:spPr>
          <a:xfrm>
            <a:off x="704850" y="2743646"/>
            <a:ext cx="2281237" cy="133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595959"/>
                </a:solidFill>
                <a:latin typeface="Quattrocento Sans"/>
                <a:ea typeface="Quattrocento Sans"/>
                <a:cs typeface="Quattrocento Sans"/>
                <a:sym typeface="Quattrocento Sans"/>
              </a:rPr>
              <a:t>TOTAL PAYMENT VALUE</a:t>
            </a:r>
            <a:endParaRPr/>
          </a:p>
        </p:txBody>
      </p:sp>
      <p:sp>
        <p:nvSpPr>
          <p:cNvPr id="102" name="Google Shape;102;p14"/>
          <p:cNvSpPr txBox="1"/>
          <p:nvPr/>
        </p:nvSpPr>
        <p:spPr>
          <a:xfrm>
            <a:off x="3538537" y="2419796"/>
            <a:ext cx="2281237"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84</a:t>
            </a:r>
            <a:endParaRPr/>
          </a:p>
        </p:txBody>
      </p:sp>
      <p:sp>
        <p:nvSpPr>
          <p:cNvPr id="103" name="Google Shape;103;p14"/>
          <p:cNvSpPr txBox="1"/>
          <p:nvPr/>
        </p:nvSpPr>
        <p:spPr>
          <a:xfrm>
            <a:off x="3538537" y="2743646"/>
            <a:ext cx="2281237" cy="133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595959"/>
                </a:solidFill>
                <a:latin typeface="Quattrocento Sans"/>
                <a:ea typeface="Quattrocento Sans"/>
                <a:cs typeface="Quattrocento Sans"/>
                <a:sym typeface="Quattrocento Sans"/>
              </a:rPr>
              <a:t>MONTHLY OBSERVATIONS</a:t>
            </a:r>
            <a:endParaRPr/>
          </a:p>
        </p:txBody>
      </p:sp>
      <p:sp>
        <p:nvSpPr>
          <p:cNvPr id="104" name="Google Shape;104;p14"/>
          <p:cNvSpPr txBox="1"/>
          <p:nvPr/>
        </p:nvSpPr>
        <p:spPr>
          <a:xfrm>
            <a:off x="6372225" y="2419796"/>
            <a:ext cx="2281237"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88</a:t>
            </a:r>
            <a:endParaRPr/>
          </a:p>
        </p:txBody>
      </p:sp>
      <p:sp>
        <p:nvSpPr>
          <p:cNvPr id="105" name="Google Shape;105;p14"/>
          <p:cNvSpPr txBox="1"/>
          <p:nvPr/>
        </p:nvSpPr>
        <p:spPr>
          <a:xfrm>
            <a:off x="6372225" y="2743646"/>
            <a:ext cx="2281237" cy="133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595959"/>
                </a:solidFill>
                <a:latin typeface="Quattrocento Sans"/>
                <a:ea typeface="Quattrocento Sans"/>
                <a:cs typeface="Quattrocento Sans"/>
                <a:sym typeface="Quattrocento Sans"/>
              </a:rPr>
              <a:t>SIC-2 INDUSTRIES</a:t>
            </a:r>
            <a:endParaRPr/>
          </a:p>
        </p:txBody>
      </p:sp>
      <p:sp>
        <p:nvSpPr>
          <p:cNvPr id="106" name="Google Shape;106;p14"/>
          <p:cNvSpPr txBox="1"/>
          <p:nvPr/>
        </p:nvSpPr>
        <p:spPr>
          <a:xfrm>
            <a:off x="9205912" y="2419796"/>
            <a:ext cx="2281237"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2.1 GB</a:t>
            </a:r>
            <a:endParaRPr/>
          </a:p>
        </p:txBody>
      </p:sp>
      <p:sp>
        <p:nvSpPr>
          <p:cNvPr id="107" name="Google Shape;107;p14"/>
          <p:cNvSpPr txBox="1"/>
          <p:nvPr/>
        </p:nvSpPr>
        <p:spPr>
          <a:xfrm>
            <a:off x="9205912" y="2743646"/>
            <a:ext cx="2281237" cy="133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595959"/>
                </a:solidFill>
                <a:latin typeface="Quattrocento Sans"/>
                <a:ea typeface="Quattrocento Sans"/>
                <a:cs typeface="Quattrocento Sans"/>
                <a:sym typeface="Quattrocento Sans"/>
              </a:rPr>
              <a:t>RAW FILE (47M ROWS)</a:t>
            </a:r>
            <a:endParaRPr/>
          </a:p>
        </p:txBody>
      </p:sp>
      <p:sp>
        <p:nvSpPr>
          <p:cNvPr id="108" name="Google Shape;108;p14"/>
          <p:cNvSpPr txBox="1"/>
          <p:nvPr/>
        </p:nvSpPr>
        <p:spPr>
          <a:xfrm>
            <a:off x="523875" y="3210371"/>
            <a:ext cx="5690711"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1F4E78"/>
                </a:solidFill>
                <a:latin typeface="Quattrocento Sans"/>
                <a:ea typeface="Quattrocento Sans"/>
                <a:cs typeface="Quattrocento Sans"/>
                <a:sym typeface="Quattrocento Sans"/>
              </a:rPr>
              <a:t>Structure &amp; Scope</a:t>
            </a:r>
            <a:endParaRPr/>
          </a:p>
        </p:txBody>
      </p:sp>
      <p:sp>
        <p:nvSpPr>
          <p:cNvPr id="109" name="Google Shape;109;p14"/>
          <p:cNvSpPr txBox="1"/>
          <p:nvPr/>
        </p:nvSpPr>
        <p:spPr>
          <a:xfrm>
            <a:off x="714375" y="3515171"/>
            <a:ext cx="5229225"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262626"/>
                </a:solidFill>
                <a:latin typeface="Quattrocento Sans"/>
                <a:ea typeface="Quattrocento Sans"/>
                <a:cs typeface="Quattrocento Sans"/>
                <a:sym typeface="Quattrocento Sans"/>
              </a:rPr>
              <a:t>Every row records which </a:t>
            </a:r>
            <a:r>
              <a:rPr lang="en-US" sz="1087" b="1" i="0" u="none" strike="noStrike" cap="none">
                <a:solidFill>
                  <a:srgbClr val="262626"/>
                </a:solidFill>
                <a:latin typeface="Quattrocento Sans"/>
                <a:ea typeface="Quattrocento Sans"/>
                <a:cs typeface="Quattrocento Sans"/>
                <a:sym typeface="Quattrocento Sans"/>
              </a:rPr>
              <a:t>SIC-2 industry paid which other</a:t>
            </a:r>
            <a:r>
              <a:rPr lang="en-US" sz="1087" b="0" i="0" u="none" strike="noStrike" cap="none">
                <a:solidFill>
                  <a:srgbClr val="262626"/>
                </a:solidFill>
                <a:latin typeface="Quattrocento Sans"/>
                <a:ea typeface="Quattrocento Sans"/>
                <a:cs typeface="Quattrocento Sans"/>
                <a:sym typeface="Quattrocento Sans"/>
              </a:rPr>
              <a:t>, in which region, in which month — including total value and transaction count.</a:t>
            </a:r>
            <a:endParaRPr/>
          </a:p>
        </p:txBody>
      </p:sp>
      <p:sp>
        <p:nvSpPr>
          <p:cNvPr id="110" name="Google Shape;110;p14"/>
          <p:cNvSpPr txBox="1"/>
          <p:nvPr/>
        </p:nvSpPr>
        <p:spPr>
          <a:xfrm>
            <a:off x="714375" y="4043808"/>
            <a:ext cx="5229225" cy="207168"/>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262626"/>
                </a:solidFill>
                <a:latin typeface="Quattrocento Sans"/>
                <a:ea typeface="Quattrocento Sans"/>
                <a:cs typeface="Quattrocento Sans"/>
                <a:sym typeface="Quattrocento Sans"/>
              </a:rPr>
              <a:t>Coverage: </a:t>
            </a:r>
            <a:r>
              <a:rPr lang="en-US" sz="1087" b="1" i="0" u="none" strike="noStrike" cap="none">
                <a:solidFill>
                  <a:srgbClr val="262626"/>
                </a:solidFill>
                <a:latin typeface="Quattrocento Sans"/>
                <a:ea typeface="Quattrocento Sans"/>
                <a:cs typeface="Quattrocento Sans"/>
                <a:sym typeface="Quattrocento Sans"/>
              </a:rPr>
              <a:t>88 SIC-2 industries</a:t>
            </a:r>
            <a:r>
              <a:rPr lang="en-US" sz="1087" b="0" i="0" u="none" strike="noStrike" cap="none">
                <a:solidFill>
                  <a:srgbClr val="262626"/>
                </a:solidFill>
                <a:latin typeface="Quattrocento Sans"/>
                <a:ea typeface="Quattrocento Sans"/>
                <a:cs typeface="Quattrocento Sans"/>
                <a:sym typeface="Quattrocento Sans"/>
              </a:rPr>
              <a:t> across </a:t>
            </a:r>
            <a:r>
              <a:rPr lang="en-US" sz="1087" b="1" i="0" u="none" strike="noStrike" cap="none">
                <a:solidFill>
                  <a:srgbClr val="262626"/>
                </a:solidFill>
                <a:latin typeface="Quattrocento Sans"/>
                <a:ea typeface="Quattrocento Sans"/>
                <a:cs typeface="Quattrocento Sans"/>
                <a:sym typeface="Quattrocento Sans"/>
              </a:rPr>
              <a:t>12 ITL-1 regions</a:t>
            </a:r>
            <a:r>
              <a:rPr lang="en-US" sz="1087" b="0" i="0" u="none" strike="noStrike" cap="none">
                <a:solidFill>
                  <a:srgbClr val="262626"/>
                </a:solidFill>
                <a:latin typeface="Quattrocento Sans"/>
                <a:ea typeface="Quattrocento Sans"/>
                <a:cs typeface="Quattrocento Sans"/>
                <a:sym typeface="Quattrocento Sans"/>
              </a:rPr>
              <a:t> (monthly from Jan 2019).</a:t>
            </a:r>
            <a:endParaRPr/>
          </a:p>
        </p:txBody>
      </p:sp>
      <p:sp>
        <p:nvSpPr>
          <p:cNvPr id="111" name="Google Shape;111;p14"/>
          <p:cNvSpPr txBox="1"/>
          <p:nvPr/>
        </p:nvSpPr>
        <p:spPr>
          <a:xfrm>
            <a:off x="714375" y="4365277"/>
            <a:ext cx="5229225"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Payment Rails:</a:t>
            </a:r>
            <a:r>
              <a:rPr lang="en-US" sz="1087" b="0" i="0" u="none" strike="noStrike" cap="none">
                <a:solidFill>
                  <a:srgbClr val="262626"/>
                </a:solidFill>
                <a:latin typeface="Quattrocento Sans"/>
                <a:ea typeface="Quattrocento Sans"/>
                <a:cs typeface="Quattrocento Sans"/>
                <a:sym typeface="Quattrocento Sans"/>
              </a:rPr>
              <a:t> Bacs (batch payments up to £20m — salaries, supplier invoices) and Faster Payments (instant payments up to £1m).</a:t>
            </a:r>
            <a:endParaRPr/>
          </a:p>
        </p:txBody>
      </p:sp>
      <p:sp>
        <p:nvSpPr>
          <p:cNvPr id="112" name="Google Shape;112;p14"/>
          <p:cNvSpPr txBox="1"/>
          <p:nvPr/>
        </p:nvSpPr>
        <p:spPr>
          <a:xfrm>
            <a:off x="714375" y="4893915"/>
            <a:ext cx="5229225" cy="207168"/>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262626"/>
                </a:solidFill>
                <a:latin typeface="Quattrocento Sans"/>
                <a:ea typeface="Quattrocento Sans"/>
                <a:cs typeface="Quattrocento Sans"/>
                <a:sym typeface="Quattrocento Sans"/>
              </a:rPr>
              <a:t>Raw dataset comprises ~47 million rows before aggregate analysis.</a:t>
            </a:r>
            <a:endParaRPr/>
          </a:p>
        </p:txBody>
      </p:sp>
      <p:sp>
        <p:nvSpPr>
          <p:cNvPr id="113" name="Google Shape;113;p14"/>
          <p:cNvSpPr txBox="1"/>
          <p:nvPr/>
        </p:nvSpPr>
        <p:spPr>
          <a:xfrm>
            <a:off x="6467475" y="3521124"/>
            <a:ext cx="5270658" cy="152400"/>
          </a:xfrm>
          <a:prstGeom prst="rect">
            <a:avLst/>
          </a:prstGeom>
          <a:noFill/>
          <a:ln>
            <a:noFill/>
          </a:ln>
        </p:spPr>
        <p:txBody>
          <a:bodyPr spcFirstLastPara="1" wrap="square" lIns="133350" tIns="0" rIns="0" bIns="0" anchor="t" anchorCtr="0">
            <a:spAutoFit/>
          </a:bodyPr>
          <a:lstStyle/>
          <a:p>
            <a:pPr marL="0" marR="0" lvl="0" indent="0" algn="l" rtl="0">
              <a:spcBef>
                <a:spcPts val="0"/>
              </a:spcBef>
              <a:spcAft>
                <a:spcPts val="0"/>
              </a:spcAft>
              <a:buNone/>
            </a:pPr>
            <a:r>
              <a:rPr lang="en-US" sz="1050" b="1" i="0" u="none" strike="noStrike" cap="none">
                <a:solidFill>
                  <a:srgbClr val="7F6000"/>
                </a:solidFill>
                <a:latin typeface="Quattrocento Sans"/>
                <a:ea typeface="Quattrocento Sans"/>
                <a:cs typeface="Quattrocento Sans"/>
                <a:sym typeface="Quattrocento Sans"/>
              </a:rPr>
              <a:t>KEY CAVEAT: ATTRIBUTION FOOTPRINT</a:t>
            </a:r>
            <a:endParaRPr/>
          </a:p>
        </p:txBody>
      </p:sp>
      <p:sp>
        <p:nvSpPr>
          <p:cNvPr id="114" name="Google Shape;114;p14"/>
          <p:cNvSpPr txBox="1"/>
          <p:nvPr/>
        </p:nvSpPr>
        <p:spPr>
          <a:xfrm>
            <a:off x="6467475" y="3730674"/>
            <a:ext cx="5019675" cy="3857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1" i="0" u="none" strike="noStrike" cap="none">
                <a:solidFill>
                  <a:srgbClr val="262626"/>
                </a:solidFill>
                <a:latin typeface="Quattrocento Sans"/>
                <a:ea typeface="Quattrocento Sans"/>
                <a:cs typeface="Quattrocento Sans"/>
                <a:sym typeface="Quattrocento Sans"/>
              </a:rPr>
              <a:t>52% of total payment value</a:t>
            </a:r>
            <a:r>
              <a:rPr lang="en-US" sz="1012" b="0" i="0" u="none" strike="noStrike" cap="none">
                <a:solidFill>
                  <a:srgbClr val="262626"/>
                </a:solidFill>
                <a:latin typeface="Quattrocento Sans"/>
                <a:ea typeface="Quattrocento Sans"/>
                <a:cs typeface="Quattrocento Sans"/>
                <a:sym typeface="Quattrocento Sans"/>
              </a:rPr>
              <a:t> has a payer with no resolvable ITL-1 region — classified here as </a:t>
            </a:r>
            <a:r>
              <a:rPr lang="en-US" sz="1012" b="1" i="0" u="none" strike="noStrike" cap="none">
                <a:solidFill>
                  <a:srgbClr val="262626"/>
                </a:solidFill>
                <a:latin typeface="Quattrocento Sans"/>
                <a:ea typeface="Quattrocento Sans"/>
                <a:cs typeface="Quattrocento Sans"/>
                <a:sym typeface="Quattrocento Sans"/>
              </a:rPr>
              <a:t>Pan-UK / Unknown</a:t>
            </a:r>
            <a:r>
              <a:rPr lang="en-US" sz="1012" b="0" i="0" u="none" strike="noStrike" cap="none">
                <a:solidFill>
                  <a:srgbClr val="262626"/>
                </a:solidFill>
                <a:latin typeface="Quattrocento Sans"/>
                <a:ea typeface="Quattrocento Sans"/>
                <a:cs typeface="Quattrocento Sans"/>
                <a:sym typeface="Quattrocento Sans"/>
              </a:rPr>
              <a:t>.</a:t>
            </a:r>
            <a:endParaRPr/>
          </a:p>
        </p:txBody>
      </p:sp>
      <p:sp>
        <p:nvSpPr>
          <p:cNvPr id="115" name="Google Shape;115;p14"/>
          <p:cNvSpPr txBox="1"/>
          <p:nvPr/>
        </p:nvSpPr>
        <p:spPr>
          <a:xfrm>
            <a:off x="6467475" y="4192637"/>
            <a:ext cx="5019675" cy="578643"/>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262626"/>
                </a:solidFill>
                <a:latin typeface="Quattrocento Sans"/>
                <a:ea typeface="Quattrocento Sans"/>
                <a:cs typeface="Quattrocento Sans"/>
                <a:sym typeface="Quattrocento Sans"/>
              </a:rPr>
              <a:t>Of the remaining 48% with an identifiable payer, roughly half go to payees also in known regions — meaning only </a:t>
            </a:r>
            <a:r>
              <a:rPr lang="en-US" sz="1012" b="1" i="0" u="none" strike="noStrike" cap="none">
                <a:solidFill>
                  <a:srgbClr val="262626"/>
                </a:solidFill>
                <a:latin typeface="Quattrocento Sans"/>
                <a:ea typeface="Quattrocento Sans"/>
                <a:cs typeface="Quattrocento Sans"/>
                <a:sym typeface="Quattrocento Sans"/>
              </a:rPr>
              <a:t>~26% of total value sits cleanly in the known-to-known space</a:t>
            </a:r>
            <a:r>
              <a:rPr lang="en-US" sz="1012" b="0" i="0" u="none" strike="noStrike" cap="none">
                <a:solidFill>
                  <a:srgbClr val="262626"/>
                </a:solidFill>
                <a:latin typeface="Quattrocento Sans"/>
                <a:ea typeface="Quattrocento Sans"/>
                <a:cs typeface="Quattrocento Sans"/>
                <a:sym typeface="Quattrocento Sans"/>
              </a:rPr>
              <a:t>.</a:t>
            </a:r>
            <a:endParaRPr/>
          </a:p>
        </p:txBody>
      </p:sp>
      <p:sp>
        <p:nvSpPr>
          <p:cNvPr id="116" name="Google Shape;116;p14"/>
          <p:cNvSpPr txBox="1"/>
          <p:nvPr/>
        </p:nvSpPr>
        <p:spPr>
          <a:xfrm>
            <a:off x="6467475" y="4847480"/>
            <a:ext cx="5019675" cy="1714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900" b="0" i="0" u="none" strike="noStrike" cap="none">
                <a:solidFill>
                  <a:srgbClr val="595959"/>
                </a:solidFill>
                <a:latin typeface="Quattrocento Sans"/>
                <a:ea typeface="Quattrocento Sans"/>
                <a:cs typeface="Quattrocento Sans"/>
                <a:sym typeface="Quattrocento Sans"/>
              </a:rPr>
              <a:t>*This is not a data quality problem; it is the structural footprint of large nationally-registered firms.</a:t>
            </a:r>
            <a:endParaRPr/>
          </a:p>
        </p:txBody>
      </p:sp>
      <p:sp>
        <p:nvSpPr>
          <p:cNvPr id="117" name="Google Shape;117;p14"/>
          <p:cNvSpPr txBox="1"/>
          <p:nvPr/>
        </p:nvSpPr>
        <p:spPr>
          <a:xfrm>
            <a:off x="542925" y="3524696"/>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118" name="Google Shape;118;p14"/>
          <p:cNvSpPr txBox="1"/>
          <p:nvPr/>
        </p:nvSpPr>
        <p:spPr>
          <a:xfrm>
            <a:off x="542925" y="4053333"/>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119" name="Google Shape;119;p14"/>
          <p:cNvSpPr txBox="1"/>
          <p:nvPr/>
        </p:nvSpPr>
        <p:spPr>
          <a:xfrm>
            <a:off x="542925" y="4374802"/>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120" name="Google Shape;120;p14"/>
          <p:cNvSpPr txBox="1"/>
          <p:nvPr/>
        </p:nvSpPr>
        <p:spPr>
          <a:xfrm>
            <a:off x="542925" y="4903440"/>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pic>
        <p:nvPicPr>
          <p:cNvPr id="121" name="Google Shape;121;p14" descr="image.png"/>
          <p:cNvPicPr preferRelativeResize="0"/>
          <p:nvPr/>
        </p:nvPicPr>
        <p:blipFill rotWithShape="1">
          <a:blip r:embed="rId6">
            <a:alphaModFix/>
          </a:blip>
          <a:srcRect/>
          <a:stretch/>
        </p:blipFill>
        <p:spPr>
          <a:xfrm>
            <a:off x="6467475" y="3530649"/>
            <a:ext cx="133350" cy="133350"/>
          </a:xfrm>
          <a:prstGeom prst="rect">
            <a:avLst/>
          </a:prstGeom>
          <a:noFill/>
          <a:ln>
            <a:noFill/>
          </a:ln>
        </p:spPr>
      </p:pic>
      <p:sp>
        <p:nvSpPr>
          <p:cNvPr id="122" name="Google Shape;122;p14"/>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The Dataset: Six Years of UK Business Payments — at SIC-2 Resolution</a:t>
            </a:r>
            <a:endParaRPr/>
          </a:p>
        </p:txBody>
      </p:sp>
      <p:sp>
        <p:nvSpPr>
          <p:cNvPr id="123" name="Google Shape;123;p14"/>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7"/>
        <p:cNvGrpSpPr/>
        <p:nvPr/>
      </p:nvGrpSpPr>
      <p:grpSpPr>
        <a:xfrm>
          <a:off x="0" y="0"/>
          <a:ext cx="0" cy="0"/>
          <a:chOff x="0" y="0"/>
          <a:chExt cx="0" cy="0"/>
        </a:xfrm>
      </p:grpSpPr>
      <p:pic>
        <p:nvPicPr>
          <p:cNvPr id="128" name="Google Shape;128;p15" descr="image.png"/>
          <p:cNvPicPr preferRelativeResize="0"/>
          <p:nvPr/>
        </p:nvPicPr>
        <p:blipFill rotWithShape="1">
          <a:blip r:embed="rId3">
            <a:alphaModFix/>
          </a:blip>
          <a:srcRect/>
          <a:stretch/>
        </p:blipFill>
        <p:spPr>
          <a:xfrm>
            <a:off x="523875" y="2126902"/>
            <a:ext cx="11144250" cy="3209925"/>
          </a:xfrm>
          <a:prstGeom prst="rect">
            <a:avLst/>
          </a:prstGeom>
          <a:noFill/>
          <a:ln>
            <a:noFill/>
          </a:ln>
        </p:spPr>
      </p:pic>
      <p:pic>
        <p:nvPicPr>
          <p:cNvPr id="129" name="Google Shape;129;p15" descr="image.png"/>
          <p:cNvPicPr preferRelativeResize="0"/>
          <p:nvPr/>
        </p:nvPicPr>
        <p:blipFill rotWithShape="1">
          <a:blip r:embed="rId4">
            <a:alphaModFix/>
          </a:blip>
          <a:srcRect/>
          <a:stretch/>
        </p:blipFill>
        <p:spPr>
          <a:xfrm>
            <a:off x="523875" y="4334321"/>
            <a:ext cx="4350990" cy="919162"/>
          </a:xfrm>
          <a:prstGeom prst="rect">
            <a:avLst/>
          </a:prstGeom>
          <a:noFill/>
          <a:ln>
            <a:noFill/>
          </a:ln>
        </p:spPr>
      </p:pic>
      <p:pic>
        <p:nvPicPr>
          <p:cNvPr id="130" name="Google Shape;130;p15" descr="image.png"/>
          <p:cNvPicPr preferRelativeResize="0"/>
          <p:nvPr/>
        </p:nvPicPr>
        <p:blipFill rotWithShape="1">
          <a:blip r:embed="rId5">
            <a:alphaModFix/>
          </a:blip>
          <a:srcRect/>
          <a:stretch/>
        </p:blipFill>
        <p:spPr>
          <a:xfrm>
            <a:off x="10629602" y="6553200"/>
            <a:ext cx="85725" cy="114300"/>
          </a:xfrm>
          <a:prstGeom prst="rect">
            <a:avLst/>
          </a:prstGeom>
          <a:noFill/>
          <a:ln>
            <a:noFill/>
          </a:ln>
        </p:spPr>
      </p:pic>
      <p:sp>
        <p:nvSpPr>
          <p:cNvPr id="131" name="Google Shape;131;p15"/>
          <p:cNvSpPr txBox="1"/>
          <p:nvPr/>
        </p:nvSpPr>
        <p:spPr>
          <a:xfrm>
            <a:off x="523875" y="2210246"/>
            <a:ext cx="4568539"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1F4E78"/>
                </a:solidFill>
                <a:latin typeface="Quattrocento Sans"/>
                <a:ea typeface="Quattrocento Sans"/>
                <a:cs typeface="Quattrocento Sans"/>
                <a:sym typeface="Quattrocento Sans"/>
              </a:rPr>
              <a:t>Payment Flow Index (PFI)</a:t>
            </a:r>
            <a:endParaRPr/>
          </a:p>
        </p:txBody>
      </p:sp>
      <p:graphicFrame>
        <p:nvGraphicFramePr>
          <p:cNvPr id="132" name="Google Shape;132;p15"/>
          <p:cNvGraphicFramePr/>
          <p:nvPr/>
        </p:nvGraphicFramePr>
        <p:xfrm>
          <a:off x="523875" y="2515046"/>
          <a:ext cx="4341450" cy="1666900"/>
        </p:xfrm>
        <a:graphic>
          <a:graphicData uri="http://schemas.openxmlformats.org/drawingml/2006/table">
            <a:tbl>
              <a:tblPr firstRow="1" bandRow="1">
                <a:noFill/>
                <a:tableStyleId>{803CBB3B-F8CC-4496-9602-C53763179573}</a:tableStyleId>
              </a:tblPr>
              <a:tblGrid>
                <a:gridCol w="2132250">
                  <a:extLst>
                    <a:ext uri="{9D8B030D-6E8A-4147-A177-3AD203B41FA5}">
                      <a16:colId xmlns:a16="http://schemas.microsoft.com/office/drawing/2014/main" val="20000"/>
                    </a:ext>
                  </a:extLst>
                </a:gridCol>
                <a:gridCol w="2209200">
                  <a:extLst>
                    <a:ext uri="{9D8B030D-6E8A-4147-A177-3AD203B41FA5}">
                      <a16:colId xmlns:a16="http://schemas.microsoft.com/office/drawing/2014/main" val="20001"/>
                    </a:ext>
                  </a:extLst>
                </a:gridCol>
              </a:tblGrid>
              <a:tr h="4167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Jan 2019 Baseline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167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2020 Trough (May 2020)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r" rtl="0">
                        <a:spcBef>
                          <a:spcPts val="0"/>
                        </a:spcBef>
                        <a:spcAft>
                          <a:spcPts val="0"/>
                        </a:spcAft>
                        <a:buNone/>
                      </a:pPr>
                      <a:r>
                        <a:rPr lang="en-US" sz="1125" b="1" i="0" u="none" strike="noStrike" cap="none">
                          <a:solidFill>
                            <a:srgbClr val="C00000"/>
                          </a:solidFill>
                          <a:latin typeface="Quattrocento Sans"/>
                          <a:ea typeface="Quattrocento Sans"/>
                          <a:cs typeface="Quattrocento Sans"/>
                          <a:sym typeface="Quattrocento Sans"/>
                        </a:rPr>
                        <a:t>81.8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1"/>
                  </a:ext>
                </a:extLst>
              </a:tr>
              <a:tr h="4167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Latest Value (Dec 2025)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125" b="1" i="0" u="none" strike="noStrike" cap="none">
                          <a:solidFill>
                            <a:srgbClr val="2F5597"/>
                          </a:solidFill>
                          <a:latin typeface="Quattrocento Sans"/>
                          <a:ea typeface="Quattrocento Sans"/>
                          <a:cs typeface="Quattrocento Sans"/>
                          <a:sym typeface="Quattrocento Sans"/>
                        </a:rPr>
                        <a:t>150.4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167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Annual Total Volume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r"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£3.18tn → £4.34tn (+37%)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3"/>
                  </a:ext>
                </a:extLst>
              </a:tr>
            </a:tbl>
          </a:graphicData>
        </a:graphic>
      </p:graphicFrame>
      <p:sp>
        <p:nvSpPr>
          <p:cNvPr id="133" name="Google Shape;133;p15"/>
          <p:cNvSpPr txBox="1"/>
          <p:nvPr/>
        </p:nvSpPr>
        <p:spPr>
          <a:xfrm>
            <a:off x="742950" y="4496246"/>
            <a:ext cx="414848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7F6000"/>
                </a:solidFill>
                <a:latin typeface="Quattrocento Sans"/>
                <a:ea typeface="Quattrocento Sans"/>
                <a:cs typeface="Quattrocento Sans"/>
                <a:sym typeface="Quattrocento Sans"/>
              </a:rPr>
              <a:t>TIMELINESS ADVANTAGE</a:t>
            </a:r>
            <a:endParaRPr/>
          </a:p>
        </p:txBody>
      </p:sp>
      <p:sp>
        <p:nvSpPr>
          <p:cNvPr id="134" name="Google Shape;134;p15"/>
          <p:cNvSpPr txBox="1"/>
          <p:nvPr/>
        </p:nvSpPr>
        <p:spPr>
          <a:xfrm>
            <a:off x="742950" y="4705796"/>
            <a:ext cx="3950940" cy="3857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262626"/>
                </a:solidFill>
                <a:latin typeface="Quattrocento Sans"/>
                <a:ea typeface="Quattrocento Sans"/>
                <a:cs typeface="Quattrocento Sans"/>
                <a:sym typeface="Quattrocento Sans"/>
              </a:rPr>
              <a:t>PFI data is available </a:t>
            </a:r>
            <a:r>
              <a:rPr lang="en-US" sz="1012" b="1" i="0" u="none" strike="noStrike" cap="none">
                <a:solidFill>
                  <a:srgbClr val="262626"/>
                </a:solidFill>
                <a:latin typeface="Quattrocento Sans"/>
                <a:ea typeface="Quattrocento Sans"/>
                <a:cs typeface="Quattrocento Sans"/>
                <a:sym typeface="Quattrocento Sans"/>
              </a:rPr>
              <a:t>within days of month-end</a:t>
            </a:r>
            <a:r>
              <a:rPr lang="en-US" sz="1012" b="0" i="0" u="none" strike="noStrike" cap="none">
                <a:solidFill>
                  <a:srgbClr val="262626"/>
                </a:solidFill>
                <a:latin typeface="Quattrocento Sans"/>
                <a:ea typeface="Quattrocento Sans"/>
                <a:cs typeface="Quattrocento Sans"/>
                <a:sym typeface="Quattrocento Sans"/>
              </a:rPr>
              <a:t>, whereas official ONS monthly GDP estimates follow </a:t>
            </a:r>
            <a:r>
              <a:rPr lang="en-US" sz="1012" b="1" i="0" u="none" strike="noStrike" cap="none">
                <a:solidFill>
                  <a:srgbClr val="262626"/>
                </a:solidFill>
                <a:latin typeface="Quattrocento Sans"/>
                <a:ea typeface="Quattrocento Sans"/>
                <a:cs typeface="Quattrocento Sans"/>
                <a:sym typeface="Quattrocento Sans"/>
              </a:rPr>
              <a:t>~45 days later</a:t>
            </a:r>
            <a:r>
              <a:rPr lang="en-US" sz="1012" b="0" i="0" u="none" strike="noStrike" cap="none">
                <a:solidFill>
                  <a:srgbClr val="262626"/>
                </a:solidFill>
                <a:latin typeface="Quattrocento Sans"/>
                <a:ea typeface="Quattrocento Sans"/>
                <a:cs typeface="Quattrocento Sans"/>
                <a:sym typeface="Quattrocento Sans"/>
              </a:rPr>
              <a:t>.</a:t>
            </a:r>
            <a:endParaRPr/>
          </a:p>
        </p:txBody>
      </p:sp>
      <p:sp>
        <p:nvSpPr>
          <p:cNvPr id="135" name="Google Shape;135;p15"/>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Aggregate Signal: Payment Volumes Track Macroeconomy</a:t>
            </a:r>
            <a:endParaRPr/>
          </a:p>
        </p:txBody>
      </p:sp>
      <p:sp>
        <p:nvSpPr>
          <p:cNvPr id="136" name="Google Shape;136;p15"/>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0"/>
        <p:cNvGrpSpPr/>
        <p:nvPr/>
      </p:nvGrpSpPr>
      <p:grpSpPr>
        <a:xfrm>
          <a:off x="0" y="0"/>
          <a:ext cx="0" cy="0"/>
          <a:chOff x="0" y="0"/>
          <a:chExt cx="0" cy="0"/>
        </a:xfrm>
      </p:grpSpPr>
      <p:pic>
        <p:nvPicPr>
          <p:cNvPr id="141" name="Google Shape;141;p16" descr="image.png"/>
          <p:cNvPicPr preferRelativeResize="0"/>
          <p:nvPr/>
        </p:nvPicPr>
        <p:blipFill rotWithShape="1">
          <a:blip r:embed="rId3">
            <a:alphaModFix/>
          </a:blip>
          <a:srcRect/>
          <a:stretch/>
        </p:blipFill>
        <p:spPr>
          <a:xfrm>
            <a:off x="523875" y="2222152"/>
            <a:ext cx="11144250" cy="3019425"/>
          </a:xfrm>
          <a:prstGeom prst="rect">
            <a:avLst/>
          </a:prstGeom>
          <a:noFill/>
          <a:ln>
            <a:noFill/>
          </a:ln>
        </p:spPr>
      </p:pic>
      <p:pic>
        <p:nvPicPr>
          <p:cNvPr id="142" name="Google Shape;142;p16" descr="image.png"/>
          <p:cNvPicPr preferRelativeResize="0"/>
          <p:nvPr/>
        </p:nvPicPr>
        <p:blipFill rotWithShape="1">
          <a:blip r:embed="rId4">
            <a:alphaModFix/>
          </a:blip>
          <a:srcRect/>
          <a:stretch/>
        </p:blipFill>
        <p:spPr>
          <a:xfrm>
            <a:off x="7045076" y="4121199"/>
            <a:ext cx="4622899" cy="1112043"/>
          </a:xfrm>
          <a:prstGeom prst="rect">
            <a:avLst/>
          </a:prstGeom>
          <a:noFill/>
          <a:ln>
            <a:noFill/>
          </a:ln>
        </p:spPr>
      </p:pic>
      <p:pic>
        <p:nvPicPr>
          <p:cNvPr id="143" name="Google Shape;143;p16" descr="image.png"/>
          <p:cNvPicPr preferRelativeResize="0"/>
          <p:nvPr/>
        </p:nvPicPr>
        <p:blipFill rotWithShape="1">
          <a:blip r:embed="rId5">
            <a:alphaModFix/>
          </a:blip>
          <a:srcRect/>
          <a:stretch/>
        </p:blipFill>
        <p:spPr>
          <a:xfrm>
            <a:off x="10629602" y="6553200"/>
            <a:ext cx="85725" cy="114300"/>
          </a:xfrm>
          <a:prstGeom prst="rect">
            <a:avLst/>
          </a:prstGeom>
          <a:noFill/>
          <a:ln>
            <a:noFill/>
          </a:ln>
        </p:spPr>
      </p:pic>
      <p:sp>
        <p:nvSpPr>
          <p:cNvPr id="144" name="Google Shape;144;p16"/>
          <p:cNvSpPr txBox="1"/>
          <p:nvPr/>
        </p:nvSpPr>
        <p:spPr>
          <a:xfrm>
            <a:off x="7045076" y="2230487"/>
            <a:ext cx="4854044"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1F4E78"/>
                </a:solidFill>
                <a:latin typeface="Quattrocento Sans"/>
                <a:ea typeface="Quattrocento Sans"/>
                <a:cs typeface="Quattrocento Sans"/>
                <a:sym typeface="Quattrocento Sans"/>
              </a:rPr>
              <a:t>Key Observations</a:t>
            </a:r>
            <a:endParaRPr/>
          </a:p>
        </p:txBody>
      </p:sp>
      <p:sp>
        <p:nvSpPr>
          <p:cNvPr id="145" name="Google Shape;145;p16"/>
          <p:cNvSpPr txBox="1"/>
          <p:nvPr/>
        </p:nvSpPr>
        <p:spPr>
          <a:xfrm>
            <a:off x="7235576" y="2535287"/>
            <a:ext cx="4432399" cy="621506"/>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262626"/>
                </a:solidFill>
                <a:latin typeface="Quattrocento Sans"/>
                <a:ea typeface="Quattrocento Sans"/>
                <a:cs typeface="Quattrocento Sans"/>
                <a:sym typeface="Quattrocento Sans"/>
              </a:rPr>
              <a:t>In 2025 London sent </a:t>
            </a:r>
            <a:r>
              <a:rPr lang="en-US" sz="1087" b="1" i="0" u="none" strike="noStrike" cap="none">
                <a:solidFill>
                  <a:srgbClr val="262626"/>
                </a:solidFill>
                <a:latin typeface="Quattrocento Sans"/>
                <a:ea typeface="Quattrocento Sans"/>
                <a:cs typeface="Quattrocento Sans"/>
                <a:sym typeface="Quattrocento Sans"/>
              </a:rPr>
              <a:t>42.6%</a:t>
            </a:r>
            <a:r>
              <a:rPr lang="en-US" sz="1087" b="0" i="0" u="none" strike="noStrike" cap="none">
                <a:solidFill>
                  <a:srgbClr val="262626"/>
                </a:solidFill>
                <a:latin typeface="Quattrocento Sans"/>
                <a:ea typeface="Quattrocento Sans"/>
                <a:cs typeface="Quattrocento Sans"/>
                <a:sym typeface="Quattrocento Sans"/>
              </a:rPr>
              <a:t> and received </a:t>
            </a:r>
            <a:r>
              <a:rPr lang="en-US" sz="1087" b="1" i="0" u="none" strike="noStrike" cap="none">
                <a:solidFill>
                  <a:srgbClr val="262626"/>
                </a:solidFill>
                <a:latin typeface="Quattrocento Sans"/>
                <a:ea typeface="Quattrocento Sans"/>
                <a:cs typeface="Quattrocento Sans"/>
                <a:sym typeface="Quattrocento Sans"/>
              </a:rPr>
              <a:t>37.5%</a:t>
            </a:r>
            <a:r>
              <a:rPr lang="en-US" sz="1087" b="0" i="0" u="none" strike="noStrike" cap="none">
                <a:solidFill>
                  <a:srgbClr val="262626"/>
                </a:solidFill>
                <a:latin typeface="Quattrocento Sans"/>
                <a:ea typeface="Quattrocento Sans"/>
                <a:cs typeface="Quattrocento Sans"/>
                <a:sym typeface="Quattrocento Sans"/>
              </a:rPr>
              <a:t> of all known-region value. Consistent across 6 years (42.5% in 2019, 41.2% in 2021, 42.3% in 2023).</a:t>
            </a:r>
            <a:endParaRPr/>
          </a:p>
        </p:txBody>
      </p:sp>
      <p:sp>
        <p:nvSpPr>
          <p:cNvPr id="146" name="Google Shape;146;p16"/>
          <p:cNvSpPr txBox="1"/>
          <p:nvPr/>
        </p:nvSpPr>
        <p:spPr>
          <a:xfrm>
            <a:off x="7235576" y="3271093"/>
            <a:ext cx="4432399" cy="207168"/>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262626"/>
                </a:solidFill>
                <a:latin typeface="Quattrocento Sans"/>
                <a:ea typeface="Quattrocento Sans"/>
                <a:cs typeface="Quattrocento Sans"/>
                <a:sym typeface="Quattrocento Sans"/>
              </a:rPr>
              <a:t>London is involved in </a:t>
            </a:r>
            <a:r>
              <a:rPr lang="en-US" sz="1087" b="1" i="0" u="none" strike="noStrike" cap="none">
                <a:solidFill>
                  <a:srgbClr val="262626"/>
                </a:solidFill>
                <a:latin typeface="Quattrocento Sans"/>
                <a:ea typeface="Quattrocento Sans"/>
                <a:cs typeface="Quattrocento Sans"/>
                <a:sym typeface="Quattrocento Sans"/>
              </a:rPr>
              <a:t>59.7%</a:t>
            </a:r>
            <a:r>
              <a:rPr lang="en-US" sz="1087" b="0" i="0" u="none" strike="noStrike" cap="none">
                <a:solidFill>
                  <a:srgbClr val="262626"/>
                </a:solidFill>
                <a:latin typeface="Quattrocento Sans"/>
                <a:ea typeface="Quattrocento Sans"/>
                <a:cs typeface="Quattrocento Sans"/>
                <a:sym typeface="Quattrocento Sans"/>
              </a:rPr>
              <a:t> of all known-region payment pairs.</a:t>
            </a:r>
            <a:endParaRPr/>
          </a:p>
        </p:txBody>
      </p:sp>
      <p:sp>
        <p:nvSpPr>
          <p:cNvPr id="147" name="Google Shape;147;p16"/>
          <p:cNvSpPr txBox="1"/>
          <p:nvPr/>
        </p:nvSpPr>
        <p:spPr>
          <a:xfrm>
            <a:off x="7235576" y="3592562"/>
            <a:ext cx="4432399"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262626"/>
                </a:solidFill>
                <a:latin typeface="Quattrocento Sans"/>
                <a:ea typeface="Quattrocento Sans"/>
                <a:cs typeface="Quattrocento Sans"/>
                <a:sym typeface="Quattrocento Sans"/>
              </a:rPr>
              <a:t>A supermarket registered in London but operating nationwide shows all supplier activity under London.</a:t>
            </a:r>
            <a:endParaRPr/>
          </a:p>
        </p:txBody>
      </p:sp>
      <p:sp>
        <p:nvSpPr>
          <p:cNvPr id="148" name="Google Shape;148;p16"/>
          <p:cNvSpPr txBox="1"/>
          <p:nvPr/>
        </p:nvSpPr>
        <p:spPr>
          <a:xfrm>
            <a:off x="7264151" y="4283124"/>
            <a:ext cx="4433991"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7F6000"/>
                </a:solidFill>
                <a:latin typeface="Quattrocento Sans"/>
                <a:ea typeface="Quattrocento Sans"/>
                <a:cs typeface="Quattrocento Sans"/>
                <a:sym typeface="Quattrocento Sans"/>
              </a:rPr>
              <a:t>HEADQUARTER EFFECT WARNING</a:t>
            </a:r>
            <a:endParaRPr/>
          </a:p>
        </p:txBody>
      </p:sp>
      <p:sp>
        <p:nvSpPr>
          <p:cNvPr id="149" name="Google Shape;149;p16"/>
          <p:cNvSpPr txBox="1"/>
          <p:nvPr/>
        </p:nvSpPr>
        <p:spPr>
          <a:xfrm>
            <a:off x="7264151" y="4492674"/>
            <a:ext cx="4222849" cy="578643"/>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262626"/>
                </a:solidFill>
                <a:latin typeface="Quattrocento Sans"/>
                <a:ea typeface="Quattrocento Sans"/>
                <a:cs typeface="Quattrocento Sans"/>
                <a:sym typeface="Quattrocento Sans"/>
              </a:rPr>
              <a:t>Regional outflow rankings are confounded by Companies House registration addresses. Sector-level analysis is more robust than pure regional rankings.</a:t>
            </a:r>
            <a:endParaRPr/>
          </a:p>
        </p:txBody>
      </p:sp>
      <p:sp>
        <p:nvSpPr>
          <p:cNvPr id="150" name="Google Shape;150;p16"/>
          <p:cNvSpPr txBox="1"/>
          <p:nvPr/>
        </p:nvSpPr>
        <p:spPr>
          <a:xfrm>
            <a:off x="7064126" y="2544812"/>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151" name="Google Shape;151;p16"/>
          <p:cNvSpPr txBox="1"/>
          <p:nvPr/>
        </p:nvSpPr>
        <p:spPr>
          <a:xfrm>
            <a:off x="7064126" y="3280618"/>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152" name="Google Shape;152;p16"/>
          <p:cNvSpPr txBox="1"/>
          <p:nvPr/>
        </p:nvSpPr>
        <p:spPr>
          <a:xfrm>
            <a:off x="7064126" y="3602087"/>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153" name="Google Shape;153;p16"/>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Regional Picture: Registration Headquarter Bias</a:t>
            </a:r>
            <a:endParaRPr/>
          </a:p>
        </p:txBody>
      </p:sp>
      <p:sp>
        <p:nvSpPr>
          <p:cNvPr id="154" name="Google Shape;154;p16"/>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8"/>
        <p:cNvGrpSpPr/>
        <p:nvPr/>
      </p:nvGrpSpPr>
      <p:grpSpPr>
        <a:xfrm>
          <a:off x="0" y="0"/>
          <a:ext cx="0" cy="0"/>
          <a:chOff x="0" y="0"/>
          <a:chExt cx="0" cy="0"/>
        </a:xfrm>
      </p:grpSpPr>
      <p:pic>
        <p:nvPicPr>
          <p:cNvPr id="159" name="Google Shape;159;p17" descr="image.png"/>
          <p:cNvPicPr preferRelativeResize="0"/>
          <p:nvPr/>
        </p:nvPicPr>
        <p:blipFill rotWithShape="1">
          <a:blip r:embed="rId3">
            <a:alphaModFix/>
          </a:blip>
          <a:srcRect/>
          <a:stretch/>
        </p:blipFill>
        <p:spPr>
          <a:xfrm>
            <a:off x="523875" y="4049762"/>
            <a:ext cx="11144250" cy="726281"/>
          </a:xfrm>
          <a:prstGeom prst="rect">
            <a:avLst/>
          </a:prstGeom>
          <a:noFill/>
          <a:ln>
            <a:noFill/>
          </a:ln>
        </p:spPr>
      </p:pic>
      <p:pic>
        <p:nvPicPr>
          <p:cNvPr id="160" name="Google Shape;160;p17" descr="image.png"/>
          <p:cNvPicPr preferRelativeResize="0"/>
          <p:nvPr/>
        </p:nvPicPr>
        <p:blipFill rotWithShape="1">
          <a:blip r:embed="rId4">
            <a:alphaModFix/>
          </a:blip>
          <a:srcRect/>
          <a:stretch/>
        </p:blipFill>
        <p:spPr>
          <a:xfrm>
            <a:off x="523875" y="4928443"/>
            <a:ext cx="11144250" cy="533400"/>
          </a:xfrm>
          <a:prstGeom prst="rect">
            <a:avLst/>
          </a:prstGeom>
          <a:noFill/>
          <a:ln>
            <a:noFill/>
          </a:ln>
        </p:spPr>
      </p:pic>
      <p:graphicFrame>
        <p:nvGraphicFramePr>
          <p:cNvPr id="161" name="Google Shape;161;p17"/>
          <p:cNvGraphicFramePr/>
          <p:nvPr/>
        </p:nvGraphicFramePr>
        <p:xfrm>
          <a:off x="523875" y="2078087"/>
          <a:ext cx="11134700" cy="1666900"/>
        </p:xfrm>
        <a:graphic>
          <a:graphicData uri="http://schemas.openxmlformats.org/drawingml/2006/table">
            <a:tbl>
              <a:tblPr firstRow="1" bandRow="1">
                <a:noFill/>
                <a:tableStyleId>{803CBB3B-F8CC-4496-9602-C53763179573}</a:tableStyleId>
              </a:tblPr>
              <a:tblGrid>
                <a:gridCol w="2309950">
                  <a:extLst>
                    <a:ext uri="{9D8B030D-6E8A-4147-A177-3AD203B41FA5}">
                      <a16:colId xmlns:a16="http://schemas.microsoft.com/office/drawing/2014/main" val="20000"/>
                    </a:ext>
                  </a:extLst>
                </a:gridCol>
                <a:gridCol w="824350">
                  <a:extLst>
                    <a:ext uri="{9D8B030D-6E8A-4147-A177-3AD203B41FA5}">
                      <a16:colId xmlns:a16="http://schemas.microsoft.com/office/drawing/2014/main" val="20001"/>
                    </a:ext>
                  </a:extLst>
                </a:gridCol>
                <a:gridCol w="4196350">
                  <a:extLst>
                    <a:ext uri="{9D8B030D-6E8A-4147-A177-3AD203B41FA5}">
                      <a16:colId xmlns:a16="http://schemas.microsoft.com/office/drawing/2014/main" val="20002"/>
                    </a:ext>
                  </a:extLst>
                </a:gridCol>
                <a:gridCol w="3804050">
                  <a:extLst>
                    <a:ext uri="{9D8B030D-6E8A-4147-A177-3AD203B41FA5}">
                      <a16:colId xmlns:a16="http://schemas.microsoft.com/office/drawing/2014/main" val="20003"/>
                    </a:ext>
                  </a:extLst>
                </a:gridCol>
              </a:tblGrid>
              <a:tr h="416725">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Industry Sector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Code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Top External Partner Role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Network Integration Level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extLst>
                  <a:ext uri="{0D108BD9-81ED-4DB2-BD59-A6C34878D82A}">
                    <a16:rowId xmlns:a16="http://schemas.microsoft.com/office/drawing/2014/main" val="10000"/>
                  </a:ext>
                </a:extLst>
              </a:tr>
              <a:tr h="4167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Wholesale &amp; Retail Trade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SIC 46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Top external payment partner for </a:t>
                      </a:r>
                      <a:r>
                        <a:rPr lang="en-US" sz="1125" b="1" i="0" u="none" strike="noStrike" cap="none">
                          <a:solidFill>
                            <a:srgbClr val="262626"/>
                          </a:solidFill>
                          <a:latin typeface="Quattrocento Sans"/>
                          <a:ea typeface="Quattrocento Sans"/>
                          <a:cs typeface="Quattrocento Sans"/>
                          <a:sym typeface="Quattrocento Sans"/>
                        </a:rPr>
                        <a:t>37 of 88 industries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Primary economy-wide supply hub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167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Financial Services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SIC 64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Top external payment partner for </a:t>
                      </a:r>
                      <a:r>
                        <a:rPr lang="en-US" sz="1125" b="1" i="0" u="none" strike="noStrike" cap="none">
                          <a:solidFill>
                            <a:srgbClr val="262626"/>
                          </a:solidFill>
                          <a:latin typeface="Quattrocento Sans"/>
                          <a:ea typeface="Quattrocento Sans"/>
                          <a:cs typeface="Quattrocento Sans"/>
                          <a:sym typeface="Quattrocento Sans"/>
                        </a:rPr>
                        <a:t>17 of 88 industries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Core financial liquidity provider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2"/>
                  </a:ext>
                </a:extLst>
              </a:tr>
              <a:tr h="4167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Vertically Integrated Sectors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19 SICs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Pay more within own SIC-2 code than to any external code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High internal supply chain density (e.g. Construction)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2" name="Google Shape;162;p17"/>
          <p:cNvSpPr txBox="1"/>
          <p:nvPr/>
        </p:nvSpPr>
        <p:spPr>
          <a:xfrm>
            <a:off x="742950" y="4211687"/>
            <a:ext cx="1128141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7F6000"/>
                </a:solidFill>
                <a:latin typeface="Quattrocento Sans"/>
                <a:ea typeface="Quattrocento Sans"/>
                <a:cs typeface="Quattrocento Sans"/>
                <a:sym typeface="Quattrocento Sans"/>
              </a:rPr>
              <a:t>ONS IO TABLE STRUCTURAL VALIDATION</a:t>
            </a:r>
            <a:endParaRPr/>
          </a:p>
        </p:txBody>
      </p:sp>
      <p:sp>
        <p:nvSpPr>
          <p:cNvPr id="163" name="Google Shape;163;p17"/>
          <p:cNvSpPr txBox="1"/>
          <p:nvPr/>
        </p:nvSpPr>
        <p:spPr>
          <a:xfrm>
            <a:off x="742950" y="4421237"/>
            <a:ext cx="10744200" cy="19288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262626"/>
                </a:solidFill>
                <a:latin typeface="Quattrocento Sans"/>
                <a:ea typeface="Quattrocento Sans"/>
                <a:cs typeface="Quattrocento Sans"/>
                <a:sym typeface="Quattrocento Sans"/>
              </a:rPr>
              <a:t>The top-partner network closely mirrors published ONS Input-Output tables, structurally validating the electronic payment approach.</a:t>
            </a:r>
            <a:endParaRPr/>
          </a:p>
        </p:txBody>
      </p:sp>
      <p:sp>
        <p:nvSpPr>
          <p:cNvPr id="164" name="Google Shape;164;p17"/>
          <p:cNvSpPr txBox="1"/>
          <p:nvPr/>
        </p:nvSpPr>
        <p:spPr>
          <a:xfrm>
            <a:off x="685800" y="5052268"/>
            <a:ext cx="116428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12" b="1" i="0" u="none" strike="noStrike" cap="none">
                <a:solidFill>
                  <a:srgbClr val="404040"/>
                </a:solidFill>
                <a:latin typeface="Quattrocento Sans"/>
                <a:ea typeface="Quattrocento Sans"/>
                <a:cs typeface="Quattrocento Sans"/>
                <a:sym typeface="Quattrocento Sans"/>
              </a:rPr>
              <a:t>Methodology Note:</a:t>
            </a:r>
            <a:endParaRPr/>
          </a:p>
        </p:txBody>
      </p:sp>
      <p:pic>
        <p:nvPicPr>
          <p:cNvPr id="165" name="Google Shape;165;p17" descr="image.png"/>
          <p:cNvPicPr preferRelativeResize="0"/>
          <p:nvPr/>
        </p:nvPicPr>
        <p:blipFill rotWithShape="1">
          <a:blip r:embed="rId5">
            <a:alphaModFix/>
          </a:blip>
          <a:srcRect/>
          <a:stretch/>
        </p:blipFill>
        <p:spPr>
          <a:xfrm>
            <a:off x="10629602" y="6553200"/>
            <a:ext cx="85725" cy="114300"/>
          </a:xfrm>
          <a:prstGeom prst="rect">
            <a:avLst/>
          </a:prstGeom>
          <a:noFill/>
          <a:ln>
            <a:noFill/>
          </a:ln>
        </p:spPr>
      </p:pic>
      <p:sp>
        <p:nvSpPr>
          <p:cNvPr id="166" name="Google Shape;166;p17"/>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Industry Network: Wholesale &amp; Financial Hubs</a:t>
            </a:r>
            <a:endParaRPr/>
          </a:p>
        </p:txBody>
      </p:sp>
      <p:sp>
        <p:nvSpPr>
          <p:cNvPr id="167" name="Google Shape;167;p17"/>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pic>
        <p:nvPicPr>
          <p:cNvPr id="172" name="Google Shape;172;p18" descr="image.png"/>
          <p:cNvPicPr preferRelativeResize="0"/>
          <p:nvPr/>
        </p:nvPicPr>
        <p:blipFill rotWithShape="1">
          <a:blip r:embed="rId3">
            <a:alphaModFix/>
          </a:blip>
          <a:srcRect/>
          <a:stretch/>
        </p:blipFill>
        <p:spPr>
          <a:xfrm>
            <a:off x="7045076" y="2334071"/>
            <a:ext cx="4622899" cy="2795587"/>
          </a:xfrm>
          <a:prstGeom prst="rect">
            <a:avLst/>
          </a:prstGeom>
          <a:noFill/>
          <a:ln>
            <a:noFill/>
          </a:ln>
        </p:spPr>
      </p:pic>
      <p:pic>
        <p:nvPicPr>
          <p:cNvPr id="173" name="Google Shape;173;p18" descr="image.png"/>
          <p:cNvPicPr preferRelativeResize="0"/>
          <p:nvPr/>
        </p:nvPicPr>
        <p:blipFill rotWithShape="1">
          <a:blip r:embed="rId4">
            <a:alphaModFix/>
          </a:blip>
          <a:srcRect/>
          <a:stretch/>
        </p:blipFill>
        <p:spPr>
          <a:xfrm>
            <a:off x="7245101" y="4010471"/>
            <a:ext cx="4222849" cy="919162"/>
          </a:xfrm>
          <a:prstGeom prst="rect">
            <a:avLst/>
          </a:prstGeom>
          <a:noFill/>
          <a:ln>
            <a:noFill/>
          </a:ln>
        </p:spPr>
      </p:pic>
      <p:pic>
        <p:nvPicPr>
          <p:cNvPr id="174" name="Google Shape;174;p18" descr="image.png"/>
          <p:cNvPicPr preferRelativeResize="0"/>
          <p:nvPr/>
        </p:nvPicPr>
        <p:blipFill rotWithShape="1">
          <a:blip r:embed="rId5">
            <a:alphaModFix/>
          </a:blip>
          <a:srcRect/>
          <a:stretch/>
        </p:blipFill>
        <p:spPr>
          <a:xfrm>
            <a:off x="10629602" y="6553200"/>
            <a:ext cx="85725" cy="114300"/>
          </a:xfrm>
          <a:prstGeom prst="rect">
            <a:avLst/>
          </a:prstGeom>
          <a:noFill/>
          <a:ln>
            <a:noFill/>
          </a:ln>
        </p:spPr>
      </p:pic>
      <p:sp>
        <p:nvSpPr>
          <p:cNvPr id="175" name="Google Shape;175;p18"/>
          <p:cNvSpPr txBox="1"/>
          <p:nvPr/>
        </p:nvSpPr>
        <p:spPr>
          <a:xfrm>
            <a:off x="523875" y="1845915"/>
            <a:ext cx="6254501"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Metric:</a:t>
            </a:r>
            <a:r>
              <a:rPr lang="en-US" sz="1087" b="0" i="0" u="none" strike="noStrike" cap="none">
                <a:solidFill>
                  <a:srgbClr val="262626"/>
                </a:solidFill>
                <a:latin typeface="Quattrocento Sans"/>
                <a:ea typeface="Quattrocento Sans"/>
                <a:cs typeface="Quattrocento Sans"/>
                <a:sym typeface="Quattrocento Sans"/>
              </a:rPr>
              <a:t> Number of an ITL-1 region's 88 industries retaining &gt;50% of payment outflows within the same region.</a:t>
            </a:r>
            <a:endParaRPr/>
          </a:p>
        </p:txBody>
      </p:sp>
      <p:graphicFrame>
        <p:nvGraphicFramePr>
          <p:cNvPr id="176" name="Google Shape;176;p18"/>
          <p:cNvGraphicFramePr/>
          <p:nvPr/>
        </p:nvGraphicFramePr>
        <p:xfrm>
          <a:off x="523875" y="2374552"/>
          <a:ext cx="6244975" cy="3167100"/>
        </p:xfrm>
        <a:graphic>
          <a:graphicData uri="http://schemas.openxmlformats.org/drawingml/2006/table">
            <a:tbl>
              <a:tblPr firstRow="1" bandRow="1">
                <a:noFill/>
                <a:tableStyleId>{803CBB3B-F8CC-4496-9602-C53763179573}</a:tableStyleId>
              </a:tblPr>
              <a:tblGrid>
                <a:gridCol w="1549300">
                  <a:extLst>
                    <a:ext uri="{9D8B030D-6E8A-4147-A177-3AD203B41FA5}">
                      <a16:colId xmlns:a16="http://schemas.microsoft.com/office/drawing/2014/main" val="20000"/>
                    </a:ext>
                  </a:extLst>
                </a:gridCol>
                <a:gridCol w="2420550">
                  <a:extLst>
                    <a:ext uri="{9D8B030D-6E8A-4147-A177-3AD203B41FA5}">
                      <a16:colId xmlns:a16="http://schemas.microsoft.com/office/drawing/2014/main" val="20001"/>
                    </a:ext>
                  </a:extLst>
                </a:gridCol>
                <a:gridCol w="2275125">
                  <a:extLst>
                    <a:ext uri="{9D8B030D-6E8A-4147-A177-3AD203B41FA5}">
                      <a16:colId xmlns:a16="http://schemas.microsoft.com/office/drawing/2014/main" val="20002"/>
                    </a:ext>
                  </a:extLst>
                </a:gridCol>
              </a:tblGrid>
              <a:tr h="527850">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ITL-1 Region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Industries &gt;50% Local Outflows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Supply Chain Profile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extLst>
                  <a:ext uri="{0D108BD9-81ED-4DB2-BD59-A6C34878D82A}">
                    <a16:rowId xmlns:a16="http://schemas.microsoft.com/office/drawing/2014/main" val="10000"/>
                  </a:ext>
                </a:extLst>
              </a:tr>
              <a:tr h="5278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Northern Ireland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2F5597"/>
                          </a:solidFill>
                          <a:latin typeface="Quattrocento Sans"/>
                          <a:ea typeface="Quattrocento Sans"/>
                          <a:cs typeface="Quattrocento Sans"/>
                          <a:sym typeface="Quattrocento Sans"/>
                        </a:rPr>
                        <a:t>58 of 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Highly Self-Contained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278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London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1" i="0" u="none" strike="noStrike" cap="none">
                          <a:solidFill>
                            <a:srgbClr val="2F5597"/>
                          </a:solidFill>
                          <a:latin typeface="Quattrocento Sans"/>
                          <a:ea typeface="Quattrocento Sans"/>
                          <a:cs typeface="Quattrocento Sans"/>
                          <a:sym typeface="Quattrocento Sans"/>
                        </a:rPr>
                        <a:t>53 of 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High Local Retention (ONS: 52)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2"/>
                  </a:ext>
                </a:extLst>
              </a:tr>
              <a:tr h="5278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Scotland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~25 of 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Moderate Local Retention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278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East Midlands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1" i="0" u="none" strike="noStrike" cap="none">
                          <a:solidFill>
                            <a:srgbClr val="C00000"/>
                          </a:solidFill>
                          <a:latin typeface="Quattrocento Sans"/>
                          <a:ea typeface="Quattrocento Sans"/>
                          <a:cs typeface="Quattrocento Sans"/>
                          <a:sym typeface="Quattrocento Sans"/>
                        </a:rPr>
                        <a:t>0 of 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Net Outflow / Logistics Hub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4"/>
                  </a:ext>
                </a:extLst>
              </a:tr>
              <a:tr h="5278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Unknown / Pan-UK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~46 of 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National Inter-Firm Flow</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77" name="Google Shape;177;p18"/>
          <p:cNvSpPr txBox="1"/>
          <p:nvPr/>
        </p:nvSpPr>
        <p:spPr>
          <a:xfrm>
            <a:off x="7245101" y="2534096"/>
            <a:ext cx="4433991"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F4E78"/>
                </a:solidFill>
                <a:latin typeface="Quattrocento Sans"/>
                <a:ea typeface="Quattrocento Sans"/>
                <a:cs typeface="Quattrocento Sans"/>
                <a:sym typeface="Quattrocento Sans"/>
              </a:rPr>
              <a:t>Analytical Findings</a:t>
            </a:r>
            <a:endParaRPr/>
          </a:p>
        </p:txBody>
      </p:sp>
      <p:sp>
        <p:nvSpPr>
          <p:cNvPr id="178" name="Google Shape;178;p18"/>
          <p:cNvSpPr txBox="1"/>
          <p:nvPr/>
        </p:nvSpPr>
        <p:spPr>
          <a:xfrm>
            <a:off x="7435601" y="2819846"/>
            <a:ext cx="4032349"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East Midlands (0/88):</a:t>
            </a:r>
            <a:r>
              <a:rPr lang="en-US" sz="1087" b="0" i="0" u="none" strike="noStrike" cap="none">
                <a:solidFill>
                  <a:srgbClr val="262626"/>
                </a:solidFill>
                <a:latin typeface="Quattrocento Sans"/>
                <a:ea typeface="Quattrocento Sans"/>
                <a:cs typeface="Quattrocento Sans"/>
                <a:sym typeface="Quattrocento Sans"/>
              </a:rPr>
              <a:t> Every industry is net-exporting payments — consistent with its economic role as a national logistics hub.</a:t>
            </a:r>
            <a:endParaRPr/>
          </a:p>
        </p:txBody>
      </p:sp>
      <p:sp>
        <p:nvSpPr>
          <p:cNvPr id="179" name="Google Shape;179;p18"/>
          <p:cNvSpPr txBox="1"/>
          <p:nvPr/>
        </p:nvSpPr>
        <p:spPr>
          <a:xfrm>
            <a:off x="7435601" y="3348483"/>
            <a:ext cx="4032349"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Pan-UK Firms (~46/88):</a:t>
            </a:r>
            <a:r>
              <a:rPr lang="en-US" sz="1087" b="0" i="0" u="none" strike="noStrike" cap="none">
                <a:solidFill>
                  <a:srgbClr val="262626"/>
                </a:solidFill>
                <a:latin typeface="Quattrocento Sans"/>
                <a:ea typeface="Quattrocento Sans"/>
                <a:cs typeface="Quattrocento Sans"/>
                <a:sym typeface="Quattrocento Sans"/>
              </a:rPr>
              <a:t> Nationally-active firms mostly transact with other nationally-active firms.</a:t>
            </a:r>
            <a:endParaRPr/>
          </a:p>
        </p:txBody>
      </p:sp>
      <p:sp>
        <p:nvSpPr>
          <p:cNvPr id="180" name="Google Shape;180;p18"/>
          <p:cNvSpPr txBox="1"/>
          <p:nvPr/>
        </p:nvSpPr>
        <p:spPr>
          <a:xfrm>
            <a:off x="7464176" y="4172396"/>
            <a:ext cx="4013939"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7F6000"/>
                </a:solidFill>
                <a:latin typeface="Quattrocento Sans"/>
                <a:ea typeface="Quattrocento Sans"/>
                <a:cs typeface="Quattrocento Sans"/>
                <a:sym typeface="Quattrocento Sans"/>
              </a:rPr>
              <a:t>NORTHERN IRELAND LAND BORDER NOTE</a:t>
            </a:r>
            <a:endParaRPr/>
          </a:p>
        </p:txBody>
      </p:sp>
      <p:sp>
        <p:nvSpPr>
          <p:cNvPr id="181" name="Google Shape;181;p18"/>
          <p:cNvSpPr txBox="1"/>
          <p:nvPr/>
        </p:nvSpPr>
        <p:spPr>
          <a:xfrm>
            <a:off x="7464176" y="4381946"/>
            <a:ext cx="3822799" cy="3857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262626"/>
                </a:solidFill>
                <a:latin typeface="Quattrocento Sans"/>
                <a:ea typeface="Quattrocento Sans"/>
                <a:cs typeface="Quattrocento Sans"/>
                <a:sym typeface="Quattrocento Sans"/>
              </a:rPr>
              <a:t>High local retention (58 sectors) may partly reflect UK payment rails routing cross-border flows internally.</a:t>
            </a:r>
            <a:endParaRPr/>
          </a:p>
        </p:txBody>
      </p:sp>
      <p:sp>
        <p:nvSpPr>
          <p:cNvPr id="182" name="Google Shape;182;p18"/>
          <p:cNvSpPr txBox="1"/>
          <p:nvPr/>
        </p:nvSpPr>
        <p:spPr>
          <a:xfrm>
            <a:off x="7264151" y="2829371"/>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183" name="Google Shape;183;p18"/>
          <p:cNvSpPr txBox="1"/>
          <p:nvPr/>
        </p:nvSpPr>
        <p:spPr>
          <a:xfrm>
            <a:off x="7264151" y="3358008"/>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184" name="Google Shape;184;p18"/>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Regional Self-Containment &amp; Supply Retention</a:t>
            </a:r>
            <a:endParaRPr/>
          </a:p>
        </p:txBody>
      </p:sp>
      <p:sp>
        <p:nvSpPr>
          <p:cNvPr id="185" name="Google Shape;185;p18"/>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9"/>
        <p:cNvGrpSpPr/>
        <p:nvPr/>
      </p:nvGrpSpPr>
      <p:grpSpPr>
        <a:xfrm>
          <a:off x="0" y="0"/>
          <a:ext cx="0" cy="0"/>
          <a:chOff x="0" y="0"/>
          <a:chExt cx="0" cy="0"/>
        </a:xfrm>
      </p:grpSpPr>
      <p:pic>
        <p:nvPicPr>
          <p:cNvPr id="190" name="Google Shape;190;p19" descr="image.png"/>
          <p:cNvPicPr preferRelativeResize="0"/>
          <p:nvPr/>
        </p:nvPicPr>
        <p:blipFill rotWithShape="1">
          <a:blip r:embed="rId3">
            <a:alphaModFix/>
          </a:blip>
          <a:srcRect/>
          <a:stretch/>
        </p:blipFill>
        <p:spPr>
          <a:xfrm>
            <a:off x="523875" y="2222152"/>
            <a:ext cx="11144250" cy="3019425"/>
          </a:xfrm>
          <a:prstGeom prst="rect">
            <a:avLst/>
          </a:prstGeom>
          <a:noFill/>
          <a:ln>
            <a:noFill/>
          </a:ln>
        </p:spPr>
      </p:pic>
      <p:pic>
        <p:nvPicPr>
          <p:cNvPr id="191" name="Google Shape;191;p19" descr="image.png"/>
          <p:cNvPicPr preferRelativeResize="0"/>
          <p:nvPr/>
        </p:nvPicPr>
        <p:blipFill rotWithShape="1">
          <a:blip r:embed="rId4">
            <a:alphaModFix/>
          </a:blip>
          <a:srcRect/>
          <a:stretch/>
        </p:blipFill>
        <p:spPr>
          <a:xfrm>
            <a:off x="523875" y="2418605"/>
            <a:ext cx="4350990" cy="1095375"/>
          </a:xfrm>
          <a:prstGeom prst="rect">
            <a:avLst/>
          </a:prstGeom>
          <a:noFill/>
          <a:ln>
            <a:noFill/>
          </a:ln>
        </p:spPr>
      </p:pic>
      <p:pic>
        <p:nvPicPr>
          <p:cNvPr id="192" name="Google Shape;192;p19" descr="image.png"/>
          <p:cNvPicPr preferRelativeResize="0"/>
          <p:nvPr/>
        </p:nvPicPr>
        <p:blipFill rotWithShape="1">
          <a:blip r:embed="rId5">
            <a:alphaModFix/>
          </a:blip>
          <a:srcRect/>
          <a:stretch/>
        </p:blipFill>
        <p:spPr>
          <a:xfrm>
            <a:off x="10629602" y="6553200"/>
            <a:ext cx="85725" cy="114300"/>
          </a:xfrm>
          <a:prstGeom prst="rect">
            <a:avLst/>
          </a:prstGeom>
          <a:noFill/>
          <a:ln>
            <a:noFill/>
          </a:ln>
        </p:spPr>
      </p:pic>
      <p:sp>
        <p:nvSpPr>
          <p:cNvPr id="193" name="Google Shape;193;p19"/>
          <p:cNvSpPr txBox="1"/>
          <p:nvPr/>
        </p:nvSpPr>
        <p:spPr>
          <a:xfrm>
            <a:off x="685800" y="2580530"/>
            <a:ext cx="4027140" cy="133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1" i="0" u="none" strike="noStrike" cap="none">
                <a:solidFill>
                  <a:srgbClr val="C00000"/>
                </a:solidFill>
                <a:latin typeface="Quattrocento Sans"/>
                <a:ea typeface="Quattrocento Sans"/>
                <a:cs typeface="Quattrocento Sans"/>
                <a:sym typeface="Quattrocento Sans"/>
              </a:rPr>
              <a:t>SEPTEMBER 2025 SHOCK (SIC 29, WEST MIDLANDS)</a:t>
            </a:r>
            <a:endParaRPr/>
          </a:p>
        </p:txBody>
      </p:sp>
      <p:sp>
        <p:nvSpPr>
          <p:cNvPr id="194" name="Google Shape;194;p19"/>
          <p:cNvSpPr txBox="1"/>
          <p:nvPr/>
        </p:nvSpPr>
        <p:spPr>
          <a:xfrm>
            <a:off x="685800" y="2751980"/>
            <a:ext cx="4027140" cy="4095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50" b="1" i="0" u="none" strike="noStrike" cap="none">
                <a:solidFill>
                  <a:srgbClr val="C00000"/>
                </a:solidFill>
                <a:latin typeface="Quattrocento Sans"/>
                <a:ea typeface="Quattrocento Sans"/>
                <a:cs typeface="Quattrocento Sans"/>
                <a:sym typeface="Quattrocento Sans"/>
              </a:rPr>
              <a:t>-59.8%</a:t>
            </a:r>
            <a:endParaRPr/>
          </a:p>
        </p:txBody>
      </p:sp>
      <p:sp>
        <p:nvSpPr>
          <p:cNvPr id="195" name="Google Shape;195;p19"/>
          <p:cNvSpPr txBox="1"/>
          <p:nvPr/>
        </p:nvSpPr>
        <p:spPr>
          <a:xfrm>
            <a:off x="685800" y="3199655"/>
            <a:ext cx="4027140"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262626"/>
                </a:solidFill>
                <a:latin typeface="Quattrocento Sans"/>
                <a:ea typeface="Quattrocento Sans"/>
                <a:cs typeface="Quattrocento Sans"/>
                <a:sym typeface="Quattrocento Sans"/>
              </a:rPr>
              <a:t>Outflows fell from </a:t>
            </a:r>
            <a:r>
              <a:rPr lang="en-US" sz="1050" b="1" i="0" u="none" strike="noStrike" cap="none">
                <a:solidFill>
                  <a:srgbClr val="262626"/>
                </a:solidFill>
                <a:latin typeface="Quattrocento Sans"/>
                <a:ea typeface="Quattrocento Sans"/>
                <a:cs typeface="Quattrocento Sans"/>
                <a:sym typeface="Quattrocento Sans"/>
              </a:rPr>
              <a:t>£185m</a:t>
            </a:r>
            <a:r>
              <a:rPr lang="en-US" sz="1050" b="0" i="0" u="none" strike="noStrike" cap="none">
                <a:solidFill>
                  <a:srgbClr val="262626"/>
                </a:solidFill>
                <a:latin typeface="Quattrocento Sans"/>
                <a:ea typeface="Quattrocento Sans"/>
                <a:cs typeface="Quattrocento Sans"/>
                <a:sym typeface="Quattrocento Sans"/>
              </a:rPr>
              <a:t> (Aug) to </a:t>
            </a:r>
            <a:r>
              <a:rPr lang="en-US" sz="1050" b="1" i="0" u="none" strike="noStrike" cap="none">
                <a:solidFill>
                  <a:srgbClr val="262626"/>
                </a:solidFill>
                <a:latin typeface="Quattrocento Sans"/>
                <a:ea typeface="Quattrocento Sans"/>
                <a:cs typeface="Quattrocento Sans"/>
                <a:sym typeface="Quattrocento Sans"/>
              </a:rPr>
              <a:t>£75m</a:t>
            </a:r>
            <a:r>
              <a:rPr lang="en-US" sz="1050" b="0" i="0" u="none" strike="noStrike" cap="none">
                <a:solidFill>
                  <a:srgbClr val="262626"/>
                </a:solidFill>
                <a:latin typeface="Quattrocento Sans"/>
                <a:ea typeface="Quattrocento Sans"/>
                <a:cs typeface="Quattrocento Sans"/>
                <a:sym typeface="Quattrocento Sans"/>
              </a:rPr>
              <a:t> (Sep)</a:t>
            </a:r>
            <a:endParaRPr/>
          </a:p>
        </p:txBody>
      </p:sp>
      <p:sp>
        <p:nvSpPr>
          <p:cNvPr id="196" name="Google Shape;196;p19"/>
          <p:cNvSpPr txBox="1"/>
          <p:nvPr/>
        </p:nvSpPr>
        <p:spPr>
          <a:xfrm>
            <a:off x="714375" y="3666380"/>
            <a:ext cx="4160490"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Below COVID Floor:</a:t>
            </a:r>
            <a:r>
              <a:rPr lang="en-US" sz="1087" b="0" i="0" u="none" strike="noStrike" cap="none">
                <a:solidFill>
                  <a:srgbClr val="262626"/>
                </a:solidFill>
                <a:latin typeface="Quattrocento Sans"/>
                <a:ea typeface="Quattrocento Sans"/>
                <a:cs typeface="Quattrocento Sans"/>
                <a:sym typeface="Quattrocento Sans"/>
              </a:rPr>
              <a:t> £75m fell below the 2020 pandemic trough (£91m in June 2020).</a:t>
            </a:r>
            <a:endParaRPr/>
          </a:p>
        </p:txBody>
      </p:sp>
      <p:sp>
        <p:nvSpPr>
          <p:cNvPr id="197" name="Google Shape;197;p19"/>
          <p:cNvSpPr txBox="1"/>
          <p:nvPr/>
        </p:nvSpPr>
        <p:spPr>
          <a:xfrm>
            <a:off x="714375" y="4195018"/>
            <a:ext cx="4160490" cy="207168"/>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Z-Score Anomaly:</a:t>
            </a:r>
            <a:r>
              <a:rPr lang="en-US" sz="1087" b="0" i="0" u="none" strike="noStrike" cap="none">
                <a:solidFill>
                  <a:srgbClr val="262626"/>
                </a:solidFill>
                <a:latin typeface="Quattrocento Sans"/>
                <a:ea typeface="Quattrocento Sans"/>
                <a:cs typeface="Quattrocento Sans"/>
                <a:sym typeface="Quattrocento Sans"/>
              </a:rPr>
              <a:t> Recorded </a:t>
            </a:r>
            <a:r>
              <a:rPr lang="en-US" sz="1087" b="1" i="0" u="none" strike="noStrike" cap="none">
                <a:solidFill>
                  <a:srgbClr val="262626"/>
                </a:solidFill>
                <a:latin typeface="Quattrocento Sans"/>
                <a:ea typeface="Quattrocento Sans"/>
                <a:cs typeface="Quattrocento Sans"/>
                <a:sym typeface="Quattrocento Sans"/>
              </a:rPr>
              <a:t>-2.37σ</a:t>
            </a:r>
            <a:r>
              <a:rPr lang="en-US" sz="1087" b="0" i="0" u="none" strike="noStrike" cap="none">
                <a:solidFill>
                  <a:srgbClr val="262626"/>
                </a:solidFill>
                <a:latin typeface="Quattrocento Sans"/>
                <a:ea typeface="Quattrocento Sans"/>
                <a:cs typeface="Quattrocento Sans"/>
                <a:sym typeface="Quattrocento Sans"/>
              </a:rPr>
              <a:t> vs 12-month rolling average.</a:t>
            </a:r>
            <a:endParaRPr/>
          </a:p>
        </p:txBody>
      </p:sp>
      <p:sp>
        <p:nvSpPr>
          <p:cNvPr id="198" name="Google Shape;198;p19"/>
          <p:cNvSpPr txBox="1"/>
          <p:nvPr/>
        </p:nvSpPr>
        <p:spPr>
          <a:xfrm>
            <a:off x="714375" y="4516487"/>
            <a:ext cx="4160490"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6-Week Signal Lead:</a:t>
            </a:r>
            <a:r>
              <a:rPr lang="en-US" sz="1087" b="0" i="0" u="none" strike="noStrike" cap="none">
                <a:solidFill>
                  <a:srgbClr val="262626"/>
                </a:solidFill>
                <a:latin typeface="Quattrocento Sans"/>
                <a:ea typeface="Quattrocento Sans"/>
                <a:cs typeface="Quattrocento Sans"/>
                <a:sym typeface="Quattrocento Sans"/>
              </a:rPr>
              <a:t> Official ONS Monthly GDP estimate showing -28.6% output drop arrived mid-November.</a:t>
            </a:r>
            <a:endParaRPr/>
          </a:p>
        </p:txBody>
      </p:sp>
      <p:sp>
        <p:nvSpPr>
          <p:cNvPr id="199" name="Google Shape;199;p19"/>
          <p:cNvSpPr txBox="1"/>
          <p:nvPr/>
        </p:nvSpPr>
        <p:spPr>
          <a:xfrm>
            <a:off x="542925" y="3675905"/>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200" name="Google Shape;200;p19"/>
          <p:cNvSpPr txBox="1"/>
          <p:nvPr/>
        </p:nvSpPr>
        <p:spPr>
          <a:xfrm>
            <a:off x="542925" y="4204543"/>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201" name="Google Shape;201;p19"/>
          <p:cNvSpPr txBox="1"/>
          <p:nvPr/>
        </p:nvSpPr>
        <p:spPr>
          <a:xfrm>
            <a:off x="542925" y="4526012"/>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202" name="Google Shape;202;p19"/>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Case Study: Motor Vehicle Shock (West Midlands, Sep 2025)</a:t>
            </a:r>
            <a:endParaRPr/>
          </a:p>
        </p:txBody>
      </p:sp>
      <p:sp>
        <p:nvSpPr>
          <p:cNvPr id="203" name="Google Shape;203;p19"/>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7"/>
        <p:cNvGrpSpPr/>
        <p:nvPr/>
      </p:nvGrpSpPr>
      <p:grpSpPr>
        <a:xfrm>
          <a:off x="0" y="0"/>
          <a:ext cx="0" cy="0"/>
          <a:chOff x="0" y="0"/>
          <a:chExt cx="0" cy="0"/>
        </a:xfrm>
      </p:grpSpPr>
      <p:pic>
        <p:nvPicPr>
          <p:cNvPr id="208" name="Google Shape;208;p20" descr="image.png"/>
          <p:cNvPicPr preferRelativeResize="0"/>
          <p:nvPr/>
        </p:nvPicPr>
        <p:blipFill rotWithShape="1">
          <a:blip r:embed="rId3">
            <a:alphaModFix/>
          </a:blip>
          <a:srcRect/>
          <a:stretch/>
        </p:blipFill>
        <p:spPr>
          <a:xfrm>
            <a:off x="523875" y="4137868"/>
            <a:ext cx="11144250" cy="1226343"/>
          </a:xfrm>
          <a:prstGeom prst="rect">
            <a:avLst/>
          </a:prstGeom>
          <a:noFill/>
          <a:ln>
            <a:noFill/>
          </a:ln>
        </p:spPr>
      </p:pic>
      <p:sp>
        <p:nvSpPr>
          <p:cNvPr id="209" name="Google Shape;209;p20"/>
          <p:cNvSpPr txBox="1"/>
          <p:nvPr/>
        </p:nvSpPr>
        <p:spPr>
          <a:xfrm>
            <a:off x="3173313" y="2099518"/>
            <a:ext cx="5845373"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Evaluating the September 2025 Motor Vehicle Shock across two industry aggregation levels:</a:t>
            </a:r>
            <a:endParaRPr/>
          </a:p>
        </p:txBody>
      </p:sp>
      <p:graphicFrame>
        <p:nvGraphicFramePr>
          <p:cNvPr id="210" name="Google Shape;210;p20"/>
          <p:cNvGraphicFramePr/>
          <p:nvPr/>
        </p:nvGraphicFramePr>
        <p:xfrm>
          <a:off x="523875" y="2523380"/>
          <a:ext cx="11134725" cy="1309675"/>
        </p:xfrm>
        <a:graphic>
          <a:graphicData uri="http://schemas.openxmlformats.org/drawingml/2006/table">
            <a:tbl>
              <a:tblPr firstRow="1" bandRow="1">
                <a:noFill/>
                <a:tableStyleId>{803CBB3B-F8CC-4496-9602-C53763179573}</a:tableStyleId>
              </a:tblPr>
              <a:tblGrid>
                <a:gridCol w="2369500">
                  <a:extLst>
                    <a:ext uri="{9D8B030D-6E8A-4147-A177-3AD203B41FA5}">
                      <a16:colId xmlns:a16="http://schemas.microsoft.com/office/drawing/2014/main" val="20000"/>
                    </a:ext>
                  </a:extLst>
                </a:gridCol>
                <a:gridCol w="2536475">
                  <a:extLst>
                    <a:ext uri="{9D8B030D-6E8A-4147-A177-3AD203B41FA5}">
                      <a16:colId xmlns:a16="http://schemas.microsoft.com/office/drawing/2014/main" val="20001"/>
                    </a:ext>
                  </a:extLst>
                </a:gridCol>
                <a:gridCol w="1332000">
                  <a:extLst>
                    <a:ext uri="{9D8B030D-6E8A-4147-A177-3AD203B41FA5}">
                      <a16:colId xmlns:a16="http://schemas.microsoft.com/office/drawing/2014/main" val="20002"/>
                    </a:ext>
                  </a:extLst>
                </a:gridCol>
                <a:gridCol w="4896750">
                  <a:extLst>
                    <a:ext uri="{9D8B030D-6E8A-4147-A177-3AD203B41FA5}">
                      <a16:colId xmlns:a16="http://schemas.microsoft.com/office/drawing/2014/main" val="20003"/>
                    </a:ext>
                  </a:extLst>
                </a:gridCol>
              </a:tblGrid>
              <a:tr h="436550">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Aggregation Level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Scope / Code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Z-Score Flag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Interpretation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extLst>
                  <a:ext uri="{0D108BD9-81ED-4DB2-BD59-A6C34878D82A}">
                    <a16:rowId xmlns:a16="http://schemas.microsoft.com/office/drawing/2014/main" val="10000"/>
                  </a:ext>
                </a:extLst>
              </a:tr>
              <a:tr h="4365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Granular Level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SIC 29</a:t>
                      </a:r>
                      <a:r>
                        <a:rPr lang="en-US" sz="1125" b="0" i="0" u="none" strike="noStrike" cap="none">
                          <a:solidFill>
                            <a:srgbClr val="262626"/>
                          </a:solidFill>
                          <a:latin typeface="Quattrocento Sans"/>
                          <a:ea typeface="Quattrocento Sans"/>
                          <a:cs typeface="Quattrocento Sans"/>
                          <a:sym typeface="Quattrocento Sans"/>
                        </a:rPr>
                        <a:t> (Motor Vehicles)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C00000"/>
                          </a:solidFill>
                          <a:latin typeface="Quattrocento Sans"/>
                          <a:ea typeface="Quattrocento Sans"/>
                          <a:cs typeface="Quattrocento Sans"/>
                          <a:sym typeface="Quattrocento Sans"/>
                        </a:rPr>
                        <a:t>-2.37 σ</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Severe Anomaly Detected immediately on release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3657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Aggregated Section Level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Section C</a:t>
                      </a:r>
                      <a:r>
                        <a:rPr lang="en-US" sz="1125" b="0" i="0" u="none" strike="noStrike" cap="none">
                          <a:solidFill>
                            <a:srgbClr val="262626"/>
                          </a:solidFill>
                          <a:latin typeface="Quattrocento Sans"/>
                          <a:ea typeface="Quattrocento Sans"/>
                          <a:cs typeface="Quattrocento Sans"/>
                          <a:sym typeface="Quattrocento Sans"/>
                        </a:rPr>
                        <a:t> (All Manufacturing)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1" i="0" u="none" strike="noStrike" cap="none">
                          <a:solidFill>
                            <a:srgbClr val="595959"/>
                          </a:solidFill>
                          <a:latin typeface="Quattrocento Sans"/>
                          <a:ea typeface="Quattrocento Sans"/>
                          <a:cs typeface="Quattrocento Sans"/>
                          <a:sym typeface="Quattrocento Sans"/>
                        </a:rPr>
                        <a:t>-0.02 σ</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Effectively flat / Signal completely hidden (PFI 124.9 → 128.4)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2"/>
                  </a:ext>
                </a:extLst>
              </a:tr>
            </a:tbl>
          </a:graphicData>
        </a:graphic>
      </p:graphicFrame>
      <p:sp>
        <p:nvSpPr>
          <p:cNvPr id="211" name="Google Shape;211;p20"/>
          <p:cNvSpPr txBox="1"/>
          <p:nvPr/>
        </p:nvSpPr>
        <p:spPr>
          <a:xfrm>
            <a:off x="742950" y="4299793"/>
            <a:ext cx="1128141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7F6000"/>
                </a:solidFill>
                <a:latin typeface="Quattrocento Sans"/>
                <a:ea typeface="Quattrocento Sans"/>
                <a:cs typeface="Quattrocento Sans"/>
                <a:sym typeface="Quattrocento Sans"/>
              </a:rPr>
              <a:t>CORE ANALYTICAL TAKEAWAYS</a:t>
            </a:r>
            <a:endParaRPr/>
          </a:p>
        </p:txBody>
      </p:sp>
      <p:sp>
        <p:nvSpPr>
          <p:cNvPr id="212" name="Google Shape;212;p20"/>
          <p:cNvSpPr txBox="1"/>
          <p:nvPr/>
        </p:nvSpPr>
        <p:spPr>
          <a:xfrm>
            <a:off x="742950" y="4509343"/>
            <a:ext cx="10744200" cy="19288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262626"/>
                </a:solidFill>
                <a:latin typeface="Quattrocento Sans"/>
                <a:ea typeface="Quattrocento Sans"/>
                <a:cs typeface="Quattrocento Sans"/>
                <a:sym typeface="Quattrocento Sans"/>
              </a:rPr>
              <a:t>• Section C covers ~24 sub-industries (SIC 10–33). Because other sub-industries were stable, broad section-level reporting completely obscured the shock.</a:t>
            </a:r>
            <a:endParaRPr/>
          </a:p>
        </p:txBody>
      </p:sp>
      <p:sp>
        <p:nvSpPr>
          <p:cNvPr id="213" name="Google Shape;213;p20"/>
          <p:cNvSpPr txBox="1"/>
          <p:nvPr/>
        </p:nvSpPr>
        <p:spPr>
          <a:xfrm>
            <a:off x="742950" y="4759374"/>
            <a:ext cx="10744200" cy="19288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262626"/>
                </a:solidFill>
                <a:latin typeface="Quattrocento Sans"/>
                <a:ea typeface="Quattrocento Sans"/>
                <a:cs typeface="Quattrocento Sans"/>
                <a:sym typeface="Quattrocento Sans"/>
              </a:rPr>
              <a:t>• Aggregation to Section level smoothing does not just blur the signal — it reverses the directional trend.</a:t>
            </a:r>
            <a:endParaRPr/>
          </a:p>
        </p:txBody>
      </p:sp>
      <p:sp>
        <p:nvSpPr>
          <p:cNvPr id="214" name="Google Shape;214;p20"/>
          <p:cNvSpPr txBox="1"/>
          <p:nvPr/>
        </p:nvSpPr>
        <p:spPr>
          <a:xfrm>
            <a:off x="742950" y="5009405"/>
            <a:ext cx="10744200" cy="19288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262626"/>
                </a:solidFill>
                <a:latin typeface="Quattrocento Sans"/>
                <a:ea typeface="Quattrocento Sans"/>
                <a:cs typeface="Quattrocento Sans"/>
                <a:sym typeface="Quattrocento Sans"/>
              </a:rPr>
              <a:t>• </a:t>
            </a:r>
            <a:r>
              <a:rPr lang="en-US" sz="1012" b="1" i="0" u="none" strike="noStrike" cap="none">
                <a:solidFill>
                  <a:srgbClr val="262626"/>
                </a:solidFill>
                <a:latin typeface="Quattrocento Sans"/>
                <a:ea typeface="Quattrocento Sans"/>
                <a:cs typeface="Quattrocento Sans"/>
                <a:sym typeface="Quattrocento Sans"/>
              </a:rPr>
              <a:t>Any early-warning monitor requires SIC-2 resolution at minimum. Section-level heatmaps are insufficient.</a:t>
            </a:r>
            <a:endParaRPr/>
          </a:p>
        </p:txBody>
      </p:sp>
      <p:pic>
        <p:nvPicPr>
          <p:cNvPr id="215" name="Google Shape;215;p20" descr="image.png"/>
          <p:cNvPicPr preferRelativeResize="0"/>
          <p:nvPr/>
        </p:nvPicPr>
        <p:blipFill rotWithShape="1">
          <a:blip r:embed="rId4">
            <a:alphaModFix/>
          </a:blip>
          <a:srcRect/>
          <a:stretch/>
        </p:blipFill>
        <p:spPr>
          <a:xfrm>
            <a:off x="10629602" y="6553200"/>
            <a:ext cx="85725" cy="114300"/>
          </a:xfrm>
          <a:prstGeom prst="rect">
            <a:avLst/>
          </a:prstGeom>
          <a:noFill/>
          <a:ln>
            <a:noFill/>
          </a:ln>
        </p:spPr>
      </p:pic>
      <p:sp>
        <p:nvSpPr>
          <p:cNvPr id="216" name="Google Shape;216;p20"/>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Why Resolution Matters: Aggregation Kills the Signal</a:t>
            </a:r>
            <a:endParaRPr/>
          </a:p>
        </p:txBody>
      </p:sp>
      <p:sp>
        <p:nvSpPr>
          <p:cNvPr id="217" name="Google Shape;217;p20"/>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1"/>
        <p:cNvGrpSpPr/>
        <p:nvPr/>
      </p:nvGrpSpPr>
      <p:grpSpPr>
        <a:xfrm>
          <a:off x="0" y="0"/>
          <a:ext cx="0" cy="0"/>
          <a:chOff x="0" y="0"/>
          <a:chExt cx="0" cy="0"/>
        </a:xfrm>
      </p:grpSpPr>
      <p:pic>
        <p:nvPicPr>
          <p:cNvPr id="222" name="Google Shape;222;p21" descr="image.png"/>
          <p:cNvPicPr preferRelativeResize="0"/>
          <p:nvPr/>
        </p:nvPicPr>
        <p:blipFill rotWithShape="1">
          <a:blip r:embed="rId3">
            <a:alphaModFix/>
          </a:blip>
          <a:srcRect/>
          <a:stretch/>
        </p:blipFill>
        <p:spPr>
          <a:xfrm>
            <a:off x="523875" y="2050702"/>
            <a:ext cx="11144250" cy="3362325"/>
          </a:xfrm>
          <a:prstGeom prst="rect">
            <a:avLst/>
          </a:prstGeom>
          <a:noFill/>
          <a:ln>
            <a:noFill/>
          </a:ln>
        </p:spPr>
      </p:pic>
      <p:pic>
        <p:nvPicPr>
          <p:cNvPr id="223" name="Google Shape;223;p21" descr="image.png"/>
          <p:cNvPicPr preferRelativeResize="0"/>
          <p:nvPr/>
        </p:nvPicPr>
        <p:blipFill rotWithShape="1">
          <a:blip r:embed="rId4">
            <a:alphaModFix/>
          </a:blip>
          <a:srcRect/>
          <a:stretch/>
        </p:blipFill>
        <p:spPr>
          <a:xfrm>
            <a:off x="523875" y="4493865"/>
            <a:ext cx="6254501" cy="919162"/>
          </a:xfrm>
          <a:prstGeom prst="rect">
            <a:avLst/>
          </a:prstGeom>
          <a:noFill/>
          <a:ln>
            <a:noFill/>
          </a:ln>
        </p:spPr>
      </p:pic>
      <p:pic>
        <p:nvPicPr>
          <p:cNvPr id="224" name="Google Shape;224;p21" descr="image.png"/>
          <p:cNvPicPr preferRelativeResize="0"/>
          <p:nvPr/>
        </p:nvPicPr>
        <p:blipFill rotWithShape="1">
          <a:blip r:embed="rId5">
            <a:alphaModFix/>
          </a:blip>
          <a:srcRect/>
          <a:stretch/>
        </p:blipFill>
        <p:spPr>
          <a:xfrm>
            <a:off x="10629602" y="6553200"/>
            <a:ext cx="85725" cy="114300"/>
          </a:xfrm>
          <a:prstGeom prst="rect">
            <a:avLst/>
          </a:prstGeom>
          <a:noFill/>
          <a:ln>
            <a:noFill/>
          </a:ln>
        </p:spPr>
      </p:pic>
      <p:sp>
        <p:nvSpPr>
          <p:cNvPr id="225" name="Google Shape;225;p21"/>
          <p:cNvSpPr txBox="1"/>
          <p:nvPr/>
        </p:nvSpPr>
        <p:spPr>
          <a:xfrm>
            <a:off x="523875" y="2050702"/>
            <a:ext cx="6567227"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F4E78"/>
                </a:solidFill>
                <a:latin typeface="Quattrocento Sans"/>
                <a:ea typeface="Quattrocento Sans"/>
                <a:cs typeface="Quattrocento Sans"/>
                <a:sym typeface="Quattrocento Sans"/>
              </a:rPr>
              <a:t>SIC 29 Breakdown at 5-Digit Level</a:t>
            </a:r>
            <a:endParaRPr/>
          </a:p>
        </p:txBody>
      </p:sp>
      <p:graphicFrame>
        <p:nvGraphicFramePr>
          <p:cNvPr id="226" name="Google Shape;226;p21"/>
          <p:cNvGraphicFramePr/>
          <p:nvPr/>
        </p:nvGraphicFramePr>
        <p:xfrm>
          <a:off x="523875" y="2298352"/>
          <a:ext cx="6245000" cy="2081250"/>
        </p:xfrm>
        <a:graphic>
          <a:graphicData uri="http://schemas.openxmlformats.org/drawingml/2006/table">
            <a:tbl>
              <a:tblPr firstRow="1" bandRow="1">
                <a:noFill/>
                <a:tableStyleId>{803CBB3B-F8CC-4496-9602-C53763179573}</a:tableStyleId>
              </a:tblPr>
              <a:tblGrid>
                <a:gridCol w="810675">
                  <a:extLst>
                    <a:ext uri="{9D8B030D-6E8A-4147-A177-3AD203B41FA5}">
                      <a16:colId xmlns:a16="http://schemas.microsoft.com/office/drawing/2014/main" val="20000"/>
                    </a:ext>
                  </a:extLst>
                </a:gridCol>
                <a:gridCol w="2702725">
                  <a:extLst>
                    <a:ext uri="{9D8B030D-6E8A-4147-A177-3AD203B41FA5}">
                      <a16:colId xmlns:a16="http://schemas.microsoft.com/office/drawing/2014/main" val="20001"/>
                    </a:ext>
                  </a:extLst>
                </a:gridCol>
                <a:gridCol w="2731600">
                  <a:extLst>
                    <a:ext uri="{9D8B030D-6E8A-4147-A177-3AD203B41FA5}">
                      <a16:colId xmlns:a16="http://schemas.microsoft.com/office/drawing/2014/main" val="20002"/>
                    </a:ext>
                  </a:extLst>
                </a:gridCol>
              </a:tblGrid>
              <a:tr h="416250">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SIC-5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Description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Supply Chain Role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extLst>
                  <a:ext uri="{0D108BD9-81ED-4DB2-BD59-A6C34878D82A}">
                    <a16:rowId xmlns:a16="http://schemas.microsoft.com/office/drawing/2014/main" val="10000"/>
                  </a:ext>
                </a:extLst>
              </a:tr>
              <a:tr h="4162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29100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Manufacture of Motor Vehicles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Final vehicle assembly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162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29310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Electrical/Electronic Equipment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Wiring, sensors, control units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2"/>
                  </a:ext>
                </a:extLst>
              </a:tr>
              <a:tr h="4162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29320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Other Parts &amp; Accessories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Chassis, drivetrain components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1625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29400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Military Fighting Vehicles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Specialised defense production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4"/>
                  </a:ext>
                </a:extLst>
              </a:tr>
            </a:tbl>
          </a:graphicData>
        </a:graphic>
      </p:graphicFrame>
      <p:sp>
        <p:nvSpPr>
          <p:cNvPr id="227" name="Google Shape;227;p21"/>
          <p:cNvSpPr txBox="1"/>
          <p:nvPr/>
        </p:nvSpPr>
        <p:spPr>
          <a:xfrm>
            <a:off x="742950" y="4655790"/>
            <a:ext cx="6147174"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7F6000"/>
                </a:solidFill>
                <a:latin typeface="Quattrocento Sans"/>
                <a:ea typeface="Quattrocento Sans"/>
                <a:cs typeface="Quattrocento Sans"/>
                <a:sym typeface="Quattrocento Sans"/>
              </a:rPr>
              <a:t>TECHNICAL INFRASTRUCTURE</a:t>
            </a:r>
            <a:endParaRPr/>
          </a:p>
        </p:txBody>
      </p:sp>
      <p:sp>
        <p:nvSpPr>
          <p:cNvPr id="228" name="Google Shape;228;p21"/>
          <p:cNvSpPr txBox="1"/>
          <p:nvPr/>
        </p:nvSpPr>
        <p:spPr>
          <a:xfrm>
            <a:off x="742950" y="4865340"/>
            <a:ext cx="5854451" cy="3857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1" i="0" u="none" strike="noStrike" cap="none">
                <a:solidFill>
                  <a:srgbClr val="262626"/>
                </a:solidFill>
                <a:latin typeface="Quattrocento Sans"/>
                <a:ea typeface="Quattrocento Sans"/>
                <a:cs typeface="Quattrocento Sans"/>
                <a:sym typeface="Quattrocento Sans"/>
              </a:rPr>
              <a:t>1.3 GB Parquet File</a:t>
            </a:r>
            <a:r>
              <a:rPr lang="en-US" sz="1012" b="0" i="0" u="none" strike="noStrike" cap="none">
                <a:solidFill>
                  <a:srgbClr val="262626"/>
                </a:solidFill>
                <a:latin typeface="Quattrocento Sans"/>
                <a:ea typeface="Quattrocento Sans"/>
                <a:cs typeface="Quattrocento Sans"/>
                <a:sym typeface="Quattrocento Sans"/>
              </a:rPr>
              <a:t> (~3x SIC-2 size). Managed on-disk via DuckDB engine for instant cached queries.</a:t>
            </a:r>
            <a:endParaRPr/>
          </a:p>
        </p:txBody>
      </p:sp>
      <p:sp>
        <p:nvSpPr>
          <p:cNvPr id="229" name="Google Shape;229;p21"/>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SIC-5 Granularity: Pinpointing Sub-Industry Drivers</a:t>
            </a:r>
            <a:endParaRPr/>
          </a:p>
        </p:txBody>
      </p:sp>
      <p:sp>
        <p:nvSpPr>
          <p:cNvPr id="230" name="Google Shape;230;p21"/>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4"/>
        <p:cNvGrpSpPr/>
        <p:nvPr/>
      </p:nvGrpSpPr>
      <p:grpSpPr>
        <a:xfrm>
          <a:off x="0" y="0"/>
          <a:ext cx="0" cy="0"/>
          <a:chOff x="0" y="0"/>
          <a:chExt cx="0" cy="0"/>
        </a:xfrm>
      </p:grpSpPr>
      <p:pic>
        <p:nvPicPr>
          <p:cNvPr id="235" name="Google Shape;235;p22" descr="image.png"/>
          <p:cNvPicPr preferRelativeResize="0"/>
          <p:nvPr/>
        </p:nvPicPr>
        <p:blipFill rotWithShape="1">
          <a:blip r:embed="rId3">
            <a:alphaModFix/>
          </a:blip>
          <a:srcRect/>
          <a:stretch/>
        </p:blipFill>
        <p:spPr>
          <a:xfrm>
            <a:off x="523875" y="2317402"/>
            <a:ext cx="11144250" cy="2828925"/>
          </a:xfrm>
          <a:prstGeom prst="rect">
            <a:avLst/>
          </a:prstGeom>
          <a:noFill/>
          <a:ln>
            <a:noFill/>
          </a:ln>
        </p:spPr>
      </p:pic>
      <p:pic>
        <p:nvPicPr>
          <p:cNvPr id="236" name="Google Shape;236;p22" descr="image.png"/>
          <p:cNvPicPr preferRelativeResize="0"/>
          <p:nvPr/>
        </p:nvPicPr>
        <p:blipFill rotWithShape="1">
          <a:blip r:embed="rId4">
            <a:alphaModFix/>
          </a:blip>
          <a:srcRect/>
          <a:stretch/>
        </p:blipFill>
        <p:spPr>
          <a:xfrm>
            <a:off x="6229350" y="4225974"/>
            <a:ext cx="5438775" cy="919162"/>
          </a:xfrm>
          <a:prstGeom prst="rect">
            <a:avLst/>
          </a:prstGeom>
          <a:noFill/>
          <a:ln>
            <a:noFill/>
          </a:ln>
        </p:spPr>
      </p:pic>
      <p:pic>
        <p:nvPicPr>
          <p:cNvPr id="237" name="Google Shape;237;p22" descr="image.png"/>
          <p:cNvPicPr preferRelativeResize="0"/>
          <p:nvPr/>
        </p:nvPicPr>
        <p:blipFill rotWithShape="1">
          <a:blip r:embed="rId5">
            <a:alphaModFix/>
          </a:blip>
          <a:srcRect/>
          <a:stretch/>
        </p:blipFill>
        <p:spPr>
          <a:xfrm>
            <a:off x="10629602" y="6553200"/>
            <a:ext cx="85725" cy="114300"/>
          </a:xfrm>
          <a:prstGeom prst="rect">
            <a:avLst/>
          </a:prstGeom>
          <a:noFill/>
          <a:ln>
            <a:noFill/>
          </a:ln>
        </p:spPr>
      </p:pic>
      <p:sp>
        <p:nvSpPr>
          <p:cNvPr id="238" name="Google Shape;238;p22"/>
          <p:cNvSpPr txBox="1"/>
          <p:nvPr/>
        </p:nvSpPr>
        <p:spPr>
          <a:xfrm>
            <a:off x="6419850" y="2318593"/>
            <a:ext cx="5248275"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Pan-UK Codes:</a:t>
            </a:r>
            <a:r>
              <a:rPr lang="en-US" sz="1087" b="0" i="0" u="none" strike="noStrike" cap="none">
                <a:solidFill>
                  <a:srgbClr val="262626"/>
                </a:solidFill>
                <a:latin typeface="Quattrocento Sans"/>
                <a:ea typeface="Quattrocento Sans"/>
                <a:cs typeface="Quattrocento Sans"/>
                <a:sym typeface="Quattrocento Sans"/>
              </a:rPr>
              <a:t> L99999999 / M99999999 account for </a:t>
            </a:r>
            <a:r>
              <a:rPr lang="en-US" sz="1087" b="1" i="0" u="none" strike="noStrike" cap="none">
                <a:solidFill>
                  <a:srgbClr val="262626"/>
                </a:solidFill>
                <a:latin typeface="Quattrocento Sans"/>
                <a:ea typeface="Quattrocento Sans"/>
                <a:cs typeface="Quattrocento Sans"/>
                <a:sym typeface="Quattrocento Sans"/>
              </a:rPr>
              <a:t>52% of all payment value</a:t>
            </a:r>
            <a:r>
              <a:rPr lang="en-US" sz="1087" b="0" i="0" u="none" strike="noStrike" cap="none">
                <a:solidFill>
                  <a:srgbClr val="262626"/>
                </a:solidFill>
                <a:latin typeface="Quattrocento Sans"/>
                <a:ea typeface="Quattrocento Sans"/>
                <a:cs typeface="Quattrocento Sans"/>
                <a:sym typeface="Quattrocento Sans"/>
              </a:rPr>
              <a:t> across 2019–2025.</a:t>
            </a:r>
            <a:endParaRPr/>
          </a:p>
        </p:txBody>
      </p:sp>
      <p:sp>
        <p:nvSpPr>
          <p:cNvPr id="239" name="Google Shape;239;p22"/>
          <p:cNvSpPr txBox="1"/>
          <p:nvPr/>
        </p:nvSpPr>
        <p:spPr>
          <a:xfrm>
            <a:off x="6419850" y="2847230"/>
            <a:ext cx="5248275" cy="207168"/>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Known Space:</a:t>
            </a:r>
            <a:r>
              <a:rPr lang="en-US" sz="1087" b="0" i="0" u="none" strike="noStrike" cap="none">
                <a:solidFill>
                  <a:srgbClr val="262626"/>
                </a:solidFill>
                <a:latin typeface="Quattrocento Sans"/>
                <a:ea typeface="Quattrocento Sans"/>
                <a:cs typeface="Quattrocento Sans"/>
                <a:sym typeface="Quattrocento Sans"/>
              </a:rPr>
              <a:t> Only </a:t>
            </a:r>
            <a:r>
              <a:rPr lang="en-US" sz="1087" b="1" i="0" u="none" strike="noStrike" cap="none">
                <a:solidFill>
                  <a:srgbClr val="262626"/>
                </a:solidFill>
                <a:latin typeface="Quattrocento Sans"/>
                <a:ea typeface="Quattrocento Sans"/>
                <a:cs typeface="Quattrocento Sans"/>
                <a:sym typeface="Quattrocento Sans"/>
              </a:rPr>
              <a:t>~26% of total value</a:t>
            </a:r>
            <a:r>
              <a:rPr lang="en-US" sz="1087" b="0" i="0" u="none" strike="noStrike" cap="none">
                <a:solidFill>
                  <a:srgbClr val="262626"/>
                </a:solidFill>
                <a:latin typeface="Quattrocento Sans"/>
                <a:ea typeface="Quattrocento Sans"/>
                <a:cs typeface="Quattrocento Sans"/>
                <a:sym typeface="Quattrocento Sans"/>
              </a:rPr>
              <a:t> sits cleanly in the known-to-known space.</a:t>
            </a:r>
            <a:endParaRPr/>
          </a:p>
        </p:txBody>
      </p:sp>
      <p:sp>
        <p:nvSpPr>
          <p:cNvPr id="240" name="Google Shape;240;p22"/>
          <p:cNvSpPr txBox="1"/>
          <p:nvPr/>
        </p:nvSpPr>
        <p:spPr>
          <a:xfrm>
            <a:off x="6419850" y="3168699"/>
            <a:ext cx="5248275"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262626"/>
                </a:solidFill>
                <a:latin typeface="Quattrocento Sans"/>
                <a:ea typeface="Quattrocento Sans"/>
                <a:cs typeface="Quattrocento Sans"/>
                <a:sym typeface="Quattrocento Sans"/>
              </a:rPr>
              <a:t>Excluding Pan-UK firms removes the majority of retail, banking, and infrastructure payment activity.</a:t>
            </a:r>
            <a:endParaRPr/>
          </a:p>
        </p:txBody>
      </p:sp>
      <p:sp>
        <p:nvSpPr>
          <p:cNvPr id="241" name="Google Shape;241;p22"/>
          <p:cNvSpPr txBox="1"/>
          <p:nvPr/>
        </p:nvSpPr>
        <p:spPr>
          <a:xfrm>
            <a:off x="6419850" y="3697337"/>
            <a:ext cx="5248275"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1" i="0" u="none" strike="noStrike" cap="none">
                <a:solidFill>
                  <a:srgbClr val="262626"/>
                </a:solidFill>
                <a:latin typeface="Quattrocento Sans"/>
                <a:ea typeface="Quattrocento Sans"/>
                <a:cs typeface="Quattrocento Sans"/>
                <a:sym typeface="Quattrocento Sans"/>
              </a:rPr>
              <a:t>Pan-UK Cohort:</a:t>
            </a:r>
            <a:r>
              <a:rPr lang="en-US" sz="1087" b="0" i="0" u="none" strike="noStrike" cap="none">
                <a:solidFill>
                  <a:srgbClr val="262626"/>
                </a:solidFill>
                <a:latin typeface="Quattrocento Sans"/>
                <a:ea typeface="Quattrocento Sans"/>
                <a:cs typeface="Quattrocento Sans"/>
                <a:sym typeface="Quattrocento Sans"/>
              </a:rPr>
              <a:t> ~46 of 88 industries show &gt;50% retention within the unknown pool — they pay each other.</a:t>
            </a:r>
            <a:endParaRPr/>
          </a:p>
        </p:txBody>
      </p:sp>
      <p:sp>
        <p:nvSpPr>
          <p:cNvPr id="242" name="Google Shape;242;p22"/>
          <p:cNvSpPr txBox="1"/>
          <p:nvPr/>
        </p:nvSpPr>
        <p:spPr>
          <a:xfrm>
            <a:off x="6448425" y="4387899"/>
            <a:ext cx="5290661"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7F6000"/>
                </a:solidFill>
                <a:latin typeface="Quattrocento Sans"/>
                <a:ea typeface="Quattrocento Sans"/>
                <a:cs typeface="Quattrocento Sans"/>
                <a:sym typeface="Quattrocento Sans"/>
              </a:rPr>
              <a:t>OPEN RESEARCH QUESTION</a:t>
            </a:r>
            <a:endParaRPr/>
          </a:p>
        </p:txBody>
      </p:sp>
      <p:sp>
        <p:nvSpPr>
          <p:cNvPr id="243" name="Google Shape;243;p22"/>
          <p:cNvSpPr txBox="1"/>
          <p:nvPr/>
        </p:nvSpPr>
        <p:spPr>
          <a:xfrm>
            <a:off x="6448425" y="4597449"/>
            <a:ext cx="5038725" cy="3857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262626"/>
                </a:solidFill>
                <a:latin typeface="Quattrocento Sans"/>
                <a:ea typeface="Quattrocento Sans"/>
                <a:cs typeface="Quattrocento Sans"/>
                <a:sym typeface="Quattrocento Sans"/>
              </a:rPr>
              <a:t>Current attribution relies on Companies House HQ addresses rather than local trading/plant activity. Can ONS VAT/PAYE records improve this footprint?</a:t>
            </a:r>
            <a:endParaRPr/>
          </a:p>
        </p:txBody>
      </p:sp>
      <p:sp>
        <p:nvSpPr>
          <p:cNvPr id="244" name="Google Shape;244;p22"/>
          <p:cNvSpPr txBox="1"/>
          <p:nvPr/>
        </p:nvSpPr>
        <p:spPr>
          <a:xfrm>
            <a:off x="6248400" y="2328118"/>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245" name="Google Shape;245;p22"/>
          <p:cNvSpPr txBox="1"/>
          <p:nvPr/>
        </p:nvSpPr>
        <p:spPr>
          <a:xfrm>
            <a:off x="6248400" y="2856755"/>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246" name="Google Shape;246;p22"/>
          <p:cNvSpPr txBox="1"/>
          <p:nvPr/>
        </p:nvSpPr>
        <p:spPr>
          <a:xfrm>
            <a:off x="6248400" y="3178224"/>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247" name="Google Shape;247;p22"/>
          <p:cNvSpPr txBox="1"/>
          <p:nvPr/>
        </p:nvSpPr>
        <p:spPr>
          <a:xfrm>
            <a:off x="6248400" y="3706862"/>
            <a:ext cx="57150"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2F5597"/>
                </a:solidFill>
                <a:latin typeface="Quattrocento Sans"/>
                <a:ea typeface="Quattrocento Sans"/>
                <a:cs typeface="Quattrocento Sans"/>
                <a:sym typeface="Quattrocento Sans"/>
              </a:rPr>
              <a:t>■</a:t>
            </a:r>
            <a:endParaRPr/>
          </a:p>
        </p:txBody>
      </p:sp>
      <p:sp>
        <p:nvSpPr>
          <p:cNvPr id="248" name="Google Shape;248;p22"/>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The "Unknown" Problem: Regional Attribution Limits</a:t>
            </a:r>
            <a:endParaRPr/>
          </a:p>
        </p:txBody>
      </p:sp>
      <p:sp>
        <p:nvSpPr>
          <p:cNvPr id="249" name="Google Shape;249;p22"/>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3"/>
        <p:cNvGrpSpPr/>
        <p:nvPr/>
      </p:nvGrpSpPr>
      <p:grpSpPr>
        <a:xfrm>
          <a:off x="0" y="0"/>
          <a:ext cx="0" cy="0"/>
          <a:chOff x="0" y="0"/>
          <a:chExt cx="0" cy="0"/>
        </a:xfrm>
      </p:grpSpPr>
      <p:graphicFrame>
        <p:nvGraphicFramePr>
          <p:cNvPr id="254" name="Google Shape;254;p23"/>
          <p:cNvGraphicFramePr/>
          <p:nvPr/>
        </p:nvGraphicFramePr>
        <p:xfrm>
          <a:off x="523875" y="2255490"/>
          <a:ext cx="11134725" cy="2952725"/>
        </p:xfrm>
        <a:graphic>
          <a:graphicData uri="http://schemas.openxmlformats.org/drawingml/2006/table">
            <a:tbl>
              <a:tblPr firstRow="1" bandRow="1">
                <a:noFill/>
                <a:tableStyleId>{803CBB3B-F8CC-4496-9602-C53763179573}</a:tableStyleId>
              </a:tblPr>
              <a:tblGrid>
                <a:gridCol w="1670150">
                  <a:extLst>
                    <a:ext uri="{9D8B030D-6E8A-4147-A177-3AD203B41FA5}">
                      <a16:colId xmlns:a16="http://schemas.microsoft.com/office/drawing/2014/main" val="20000"/>
                    </a:ext>
                  </a:extLst>
                </a:gridCol>
                <a:gridCol w="2783675">
                  <a:extLst>
                    <a:ext uri="{9D8B030D-6E8A-4147-A177-3AD203B41FA5}">
                      <a16:colId xmlns:a16="http://schemas.microsoft.com/office/drawing/2014/main" val="20001"/>
                    </a:ext>
                  </a:extLst>
                </a:gridCol>
                <a:gridCol w="1670150">
                  <a:extLst>
                    <a:ext uri="{9D8B030D-6E8A-4147-A177-3AD203B41FA5}">
                      <a16:colId xmlns:a16="http://schemas.microsoft.com/office/drawing/2014/main" val="20002"/>
                    </a:ext>
                  </a:extLst>
                </a:gridCol>
                <a:gridCol w="5010750">
                  <a:extLst>
                    <a:ext uri="{9D8B030D-6E8A-4147-A177-3AD203B41FA5}">
                      <a16:colId xmlns:a16="http://schemas.microsoft.com/office/drawing/2014/main" val="20003"/>
                    </a:ext>
                  </a:extLst>
                </a:gridCol>
              </a:tblGrid>
              <a:tr h="738175">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Option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Development Path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Resource Lift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Description &amp; Analytical Scope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extLst>
                  <a:ext uri="{0D108BD9-81ED-4DB2-BD59-A6C34878D82A}">
                    <a16:rowId xmlns:a16="http://schemas.microsoft.com/office/drawing/2014/main" val="10000"/>
                  </a:ext>
                </a:extLst>
              </a:tr>
              <a:tr h="73817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Path 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Production Monitor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Lowest Lift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Monthly SIC-2 Z-score dashboard flagging anomalous industries within days of release. Analytical pipeline is functional; needs governance &amp; alert rules.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3817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Path 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GDP Nowcast Composite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Medium Lift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Combine PFI payment flows + 7-day VAT diffusion index for an early GDP indicator. Two independent high-frequency signals strengthen publication case.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2"/>
                  </a:ext>
                </a:extLst>
              </a:tr>
              <a:tr h="738200">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Path 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Supply Chain Stress Test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Research Grade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Model payment networks as contagion pathways to simulate shock propagation via hub nodes (SIC 46 and 64). SIC-5 layer enables sub-industry mapping.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255" name="Google Shape;255;p23" descr="image.png"/>
          <p:cNvPicPr preferRelativeResize="0"/>
          <p:nvPr/>
        </p:nvPicPr>
        <p:blipFill rotWithShape="1">
          <a:blip r:embed="rId3">
            <a:alphaModFix/>
          </a:blip>
          <a:srcRect/>
          <a:stretch/>
        </p:blipFill>
        <p:spPr>
          <a:xfrm>
            <a:off x="10629602" y="6553200"/>
            <a:ext cx="85725" cy="114300"/>
          </a:xfrm>
          <a:prstGeom prst="rect">
            <a:avLst/>
          </a:prstGeom>
          <a:noFill/>
          <a:ln>
            <a:noFill/>
          </a:ln>
        </p:spPr>
      </p:pic>
      <p:sp>
        <p:nvSpPr>
          <p:cNvPr id="256" name="Google Shape;256;p23"/>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Future Roadmap: Three Strategic Development Paths</a:t>
            </a:r>
            <a:endParaRPr/>
          </a:p>
        </p:txBody>
      </p:sp>
      <p:sp>
        <p:nvSpPr>
          <p:cNvPr id="257" name="Google Shape;257;p23"/>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1"/>
        <p:cNvGrpSpPr/>
        <p:nvPr/>
      </p:nvGrpSpPr>
      <p:grpSpPr>
        <a:xfrm>
          <a:off x="0" y="0"/>
          <a:ext cx="0" cy="0"/>
          <a:chOff x="0" y="0"/>
          <a:chExt cx="0" cy="0"/>
        </a:xfrm>
      </p:grpSpPr>
      <p:graphicFrame>
        <p:nvGraphicFramePr>
          <p:cNvPr id="262" name="Google Shape;262;p24"/>
          <p:cNvGraphicFramePr/>
          <p:nvPr/>
        </p:nvGraphicFramePr>
        <p:xfrm>
          <a:off x="523875" y="2484090"/>
          <a:ext cx="11134725" cy="2495550"/>
        </p:xfrm>
        <a:graphic>
          <a:graphicData uri="http://schemas.openxmlformats.org/drawingml/2006/table">
            <a:tbl>
              <a:tblPr firstRow="1" bandRow="1">
                <a:noFill/>
                <a:tableStyleId>{803CBB3B-F8CC-4496-9602-C53763179573}</a:tableStyleId>
              </a:tblPr>
              <a:tblGrid>
                <a:gridCol w="47625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8753475">
                  <a:extLst>
                    <a:ext uri="{9D8B030D-6E8A-4147-A177-3AD203B41FA5}">
                      <a16:colId xmlns:a16="http://schemas.microsoft.com/office/drawing/2014/main" val="20002"/>
                    </a:ext>
                  </a:extLst>
                </a:gridCol>
              </a:tblGrid>
              <a:tr h="415925">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Topic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Quattrocento Sans"/>
                          <a:ea typeface="Quattrocento Sans"/>
                          <a:cs typeface="Quattrocento Sans"/>
                          <a:sym typeface="Quattrocento Sans"/>
                        </a:rPr>
                        <a:t>Core Strategic Question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05496"/>
                    </a:solidFill>
                  </a:tcPr>
                </a:tc>
                <a:extLst>
                  <a:ext uri="{0D108BD9-81ED-4DB2-BD59-A6C34878D82A}">
                    <a16:rowId xmlns:a16="http://schemas.microsoft.com/office/drawing/2014/main" val="10000"/>
                  </a:ext>
                </a:extLst>
              </a:tr>
              <a:tr h="4159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Strategic Priority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Is the primary goal nowcasting GDP direction, monitoring granular industry shocks — or both, at different time horizons?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159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Regional Attribution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Does ONS intend to improve attribution beyond Companies House registration addresses given the 52% unresolvable payer pool?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2"/>
                  </a:ext>
                </a:extLst>
              </a:tr>
              <a:tr h="4159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Publication Bar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Is there appetite to publish an experimental statistic from this data, and what validation standard would it need to meet?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159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Integration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Should payment flows sit alongside existing indicators (7-day VAT, CHAPS) or remain a standalone research strand?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BFD"/>
                    </a:solidFill>
                  </a:tcPr>
                </a:tc>
                <a:extLst>
                  <a:ext uri="{0D108BD9-81ED-4DB2-BD59-A6C34878D82A}">
                    <a16:rowId xmlns:a16="http://schemas.microsoft.com/office/drawing/2014/main" val="10004"/>
                  </a:ext>
                </a:extLst>
              </a:tr>
              <a:tr h="415925">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262626"/>
                          </a:solidFill>
                          <a:latin typeface="Quattrocento Sans"/>
                          <a:ea typeface="Quattrocento Sans"/>
                          <a:cs typeface="Quattrocento Sans"/>
                          <a:sym typeface="Quattrocento Sans"/>
                        </a:rPr>
                        <a:t>Targeted Use Cases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62626"/>
                          </a:solidFill>
                          <a:latin typeface="Quattrocento Sans"/>
                          <a:ea typeface="Quattrocento Sans"/>
                          <a:cs typeface="Quattrocento Sans"/>
                          <a:sym typeface="Quattrocento Sans"/>
                        </a:rPr>
                        <a:t>Are there specific industries or regions where the GDP team urgently needs faster signals to validate narrow pilots?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263" name="Google Shape;263;p24" descr="image.png"/>
          <p:cNvPicPr preferRelativeResize="0"/>
          <p:nvPr/>
        </p:nvPicPr>
        <p:blipFill rotWithShape="1">
          <a:blip r:embed="rId3">
            <a:alphaModFix/>
          </a:blip>
          <a:srcRect/>
          <a:stretch/>
        </p:blipFill>
        <p:spPr>
          <a:xfrm>
            <a:off x="10629602" y="6553200"/>
            <a:ext cx="85725" cy="114300"/>
          </a:xfrm>
          <a:prstGeom prst="rect">
            <a:avLst/>
          </a:prstGeom>
          <a:noFill/>
          <a:ln>
            <a:noFill/>
          </a:ln>
        </p:spPr>
      </p:pic>
      <p:sp>
        <p:nvSpPr>
          <p:cNvPr id="264" name="Google Shape;264;p24"/>
          <p:cNvSpPr txBox="1"/>
          <p:nvPr/>
        </p:nvSpPr>
        <p:spPr>
          <a:xfrm>
            <a:off x="523875" y="428625"/>
            <a:ext cx="11668125" cy="3390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1F4E78"/>
                </a:solidFill>
                <a:latin typeface="Quattrocento Sans"/>
                <a:ea typeface="Quattrocento Sans"/>
                <a:cs typeface="Quattrocento Sans"/>
                <a:sym typeface="Quattrocento Sans"/>
              </a:rPr>
              <a:t>Five Questions for Strategic Direction</a:t>
            </a:r>
            <a:endParaRPr/>
          </a:p>
        </p:txBody>
      </p:sp>
      <p:sp>
        <p:nvSpPr>
          <p:cNvPr id="265" name="Google Shape;265;p24"/>
          <p:cNvSpPr/>
          <p:nvPr/>
        </p:nvSpPr>
        <p:spPr>
          <a:xfrm>
            <a:off x="523875" y="824805"/>
            <a:ext cx="11144250" cy="19050"/>
          </a:xfrm>
          <a:prstGeom prst="rect">
            <a:avLst/>
          </a:prstGeom>
          <a:solidFill>
            <a:srgbClr val="2F55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2537</Words>
  <Application>Microsoft Macintosh PowerPoint</Application>
  <PresentationFormat>Widescreen</PresentationFormat>
  <Paragraphs>234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Quattrocento Sans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Saurabh Kumar</cp:lastModifiedBy>
  <cp:revision>13</cp:revision>
  <dcterms:modified xsi:type="dcterms:W3CDTF">2026-08-10T21:02:40Z</dcterms:modified>
</cp:coreProperties>
</file>